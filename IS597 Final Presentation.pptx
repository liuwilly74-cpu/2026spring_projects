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66" r:id="rId5"/>
    <p:sldId id="265" r:id="rId6"/>
    <p:sldId id="263" r:id="rId7"/>
    <p:sldId id="264" r:id="rId8"/>
    <p:sldId id="270" r:id="rId9"/>
    <p:sldId id="275" r:id="rId10"/>
    <p:sldId id="277" r:id="rId11"/>
    <p:sldId id="271" r:id="rId12"/>
    <p:sldId id="260" r:id="rId13"/>
    <p:sldId id="267" r:id="rId14"/>
    <p:sldId id="268" r:id="rId15"/>
    <p:sldId id="269" r:id="rId16"/>
    <p:sldId id="274" r:id="rId17"/>
    <p:sldId id="273" r:id="rId18"/>
    <p:sldId id="272" r:id="rId19"/>
    <p:sldId id="276" r:id="rId20"/>
    <p:sldId id="261" r:id="rId21"/>
    <p:sldId id="26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A69154-BC29-0FCD-C765-3DAC9FCCE315}" v="853" dt="2026-05-05T22:50:16.771"/>
    <p1510:client id="{2206F6D0-B678-25FE-3292-409C60483954}" v="71" dt="2026-05-05T19:54:47.081"/>
    <p1510:client id="{302F00AF-9D16-0411-BFE7-05068127854F}" v="2" dt="2026-05-06T13:59:24.583"/>
    <p1510:client id="{673A45C6-A273-4950-471B-3145BA5CF8F6}" v="1" dt="2026-05-06T03:45:42.695"/>
    <p1510:client id="{84803E6A-43F1-5300-542B-BA9C7352905B}" v="92" dt="2026-05-06T05:06:38.322"/>
    <p1510:client id="{901849FC-0016-BE49-3A84-7B04164441BB}" v="1647" dt="2026-05-05T23:08:56.915"/>
    <p1510:client id="{BB2C5C1C-180A-7069-C7F8-E1A4B33106B0}" v="903" dt="2026-05-05T21:02:21.057"/>
    <p1510:client id="{DFF1C9D2-A38E-C663-ED8F-631B463C5768}" v="36" dt="2026-05-06T04:22:16.5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A4F40-A4AC-4937-AFF6-B38F120245D0}" type="datetimeFigureOut">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522A7-E596-4826-9976-8150A63C0C21}" type="slidenum">
              <a:t>‹#›</a:t>
            </a:fld>
            <a:endParaRPr lang="en-US"/>
          </a:p>
        </p:txBody>
      </p:sp>
    </p:spTree>
    <p:extLst>
      <p:ext uri="{BB962C8B-B14F-4D97-AF65-F5344CB8AC3E}">
        <p14:creationId xmlns:p14="http://schemas.microsoft.com/office/powerpoint/2010/main" val="40327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ighlight>
                  <a:srgbClr val="FFFFFF"/>
                </a:highlight>
              </a:rPr>
              <a:t>The score distribution on display in histogram 1 shows a dotted red line around the 75/100 mark, signifying the average Metacritic score across 4,155 games. The average critic score may seem low, but it appears that critics tend to avoid holding extreme positions with their reviews. Compare this to histogram 2 and we can see a clear and stark difference between how critics review games versus how players review games.</a:t>
            </a:r>
            <a:endParaRPr lang="en-US"/>
          </a:p>
          <a:p>
            <a:r>
              <a:rPr lang="en-US">
                <a:highlight>
                  <a:srgbClr val="FFFFFF"/>
                </a:highlight>
              </a:rPr>
              <a:t>In histogram 2, there is a clear left-skew leaning towards games that are over 80% positive. Clearly, there aren't many negative reviews available to us. An assumption can be made about this: the average consumer is more likely to review a game that they deem as "positive" than a game that they perceive as "negative". Players may only feel inclined to review games that they enjoy over games that they may have issues with.</a:t>
            </a:r>
            <a:endParaRPr lang="en-US"/>
          </a:p>
          <a:p>
            <a:r>
              <a:rPr lang="en-US">
                <a:highlight>
                  <a:srgbClr val="FFFFFF"/>
                </a:highlight>
              </a:rPr>
              <a:t>Histogram 3 shows us that the divergence ratio is slightly above the baseline of 0 that we've established. There is some credibility to be had in concluding that players are generally more positive and more likely to give a good review for a video game than the analysts over at Metacritic.</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4DC522A7-E596-4826-9976-8150A63C0C21}" type="slidenum">
              <a:t>13</a:t>
            </a:fld>
            <a:endParaRPr lang="en-US"/>
          </a:p>
        </p:txBody>
      </p:sp>
    </p:spTree>
    <p:extLst>
      <p:ext uri="{BB962C8B-B14F-4D97-AF65-F5344CB8AC3E}">
        <p14:creationId xmlns:p14="http://schemas.microsoft.com/office/powerpoint/2010/main" val="4222124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anandshaw2001/video-game-sales/data" TargetMode="External"/><Relationship Id="rId2" Type="http://schemas.openxmlformats.org/officeDocument/2006/relationships/hyperlink" Target="https://github.com/NewbieIndieGameDev/steam-insight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043485"/>
            <a:ext cx="9144000" cy="1655762"/>
          </a:xfrm>
        </p:spPr>
        <p:txBody>
          <a:bodyPr vert="horz" lIns="91440" tIns="45720" rIns="91440" bIns="45720" rtlCol="0" anchor="t">
            <a:normAutofit/>
          </a:bodyPr>
          <a:lstStyle/>
          <a:p>
            <a:r>
              <a:rPr lang="en-US">
                <a:latin typeface="Garamond"/>
              </a:rPr>
              <a:t>Arij Ahmed, Qi Zhang, Ziyang Liu</a:t>
            </a:r>
          </a:p>
        </p:txBody>
      </p:sp>
      <p:sp>
        <p:nvSpPr>
          <p:cNvPr id="5" name="Title 4">
            <a:extLst>
              <a:ext uri="{FF2B5EF4-FFF2-40B4-BE49-F238E27FC236}">
                <a16:creationId xmlns:a16="http://schemas.microsoft.com/office/drawing/2014/main" id="{F6CD3057-7E82-3F51-438D-D4216E4D85D5}"/>
              </a:ext>
            </a:extLst>
          </p:cNvPr>
          <p:cNvSpPr>
            <a:spLocks noGrp="1"/>
          </p:cNvSpPr>
          <p:nvPr>
            <p:ph type="ctrTitle"/>
          </p:nvPr>
        </p:nvSpPr>
        <p:spPr>
          <a:xfrm>
            <a:off x="1524000" y="1875398"/>
            <a:ext cx="9144000" cy="2387600"/>
          </a:xfrm>
        </p:spPr>
        <p:txBody>
          <a:bodyPr>
            <a:normAutofit fontScale="90000"/>
          </a:bodyPr>
          <a:lstStyle/>
          <a:p>
            <a:r>
              <a:rPr lang="en-US" b="1">
                <a:latin typeface="Garamond"/>
              </a:rPr>
              <a:t>Video Games Analysis Centered Around Review Ratings, Genre Specification, and Monetization Models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D74B3-1F8C-24A1-93EE-95A544D6C9E5}"/>
              </a:ext>
            </a:extLst>
          </p:cNvPr>
          <p:cNvSpPr>
            <a:spLocks noGrp="1"/>
          </p:cNvSpPr>
          <p:nvPr>
            <p:ph type="title"/>
          </p:nvPr>
        </p:nvSpPr>
        <p:spPr/>
        <p:txBody>
          <a:bodyPr/>
          <a:lstStyle/>
          <a:p>
            <a:r>
              <a:rPr lang="en-US">
                <a:latin typeface="Times New Roman"/>
                <a:cs typeface="Times New Roman"/>
              </a:rPr>
              <a:t>Project Background</a:t>
            </a:r>
          </a:p>
        </p:txBody>
      </p:sp>
      <p:sp>
        <p:nvSpPr>
          <p:cNvPr id="3" name="Content Placeholder 2">
            <a:extLst>
              <a:ext uri="{FF2B5EF4-FFF2-40B4-BE49-F238E27FC236}">
                <a16:creationId xmlns:a16="http://schemas.microsoft.com/office/drawing/2014/main" id="{91332AFE-9EBB-3A8F-55EC-845ED0C0B6BC}"/>
              </a:ext>
            </a:extLst>
          </p:cNvPr>
          <p:cNvSpPr>
            <a:spLocks noGrp="1"/>
          </p:cNvSpPr>
          <p:nvPr>
            <p:ph idx="1"/>
          </p:nvPr>
        </p:nvSpPr>
        <p:spPr/>
        <p:txBody>
          <a:bodyPr vert="horz" lIns="91440" tIns="45720" rIns="91440" bIns="45720" rtlCol="0" anchor="t">
            <a:noAutofit/>
          </a:bodyPr>
          <a:lstStyle/>
          <a:p>
            <a:r>
              <a:rPr lang="en-US" sz="1800" b="1">
                <a:solidFill>
                  <a:srgbClr val="1F2328"/>
                </a:solidFill>
                <a:highlight>
                  <a:srgbClr val="FFFFFF"/>
                </a:highlight>
                <a:latin typeface="Times New Roman"/>
                <a:ea typeface="+mn-lt"/>
                <a:cs typeface="Times New Roman"/>
              </a:rPr>
              <a:t>Genre Evolution:</a:t>
            </a:r>
            <a:r>
              <a:rPr lang="en-US" sz="1800">
                <a:solidFill>
                  <a:srgbClr val="1F2328"/>
                </a:solidFill>
                <a:highlight>
                  <a:srgbClr val="FFFFFF"/>
                </a:highlight>
                <a:latin typeface="Times New Roman"/>
                <a:ea typeface="+mn-lt"/>
                <a:cs typeface="Times New Roman"/>
              </a:rPr>
              <a:t> Which niche genres have transitioned to the mainstream over the past decade? What do their lifecycle trajectories look like?</a:t>
            </a:r>
            <a:endParaRPr lang="en-US" sz="1800">
              <a:latin typeface="Times New Roman"/>
              <a:cs typeface="Times New Roman"/>
            </a:endParaRPr>
          </a:p>
          <a:p>
            <a:endParaRPr lang="en-US" sz="1800">
              <a:solidFill>
                <a:srgbClr val="1F2328"/>
              </a:solidFill>
              <a:highlight>
                <a:srgbClr val="FFFFFF"/>
              </a:highlight>
              <a:latin typeface="Times New Roman"/>
              <a:ea typeface="+mn-lt"/>
              <a:cs typeface="Times New Roman"/>
            </a:endParaRPr>
          </a:p>
          <a:p>
            <a:r>
              <a:rPr lang="en-US" sz="1800" b="1">
                <a:solidFill>
                  <a:srgbClr val="1F2328"/>
                </a:solidFill>
                <a:highlight>
                  <a:srgbClr val="FFFFFF"/>
                </a:highlight>
                <a:latin typeface="Times New Roman"/>
                <a:ea typeface="+mn-lt"/>
                <a:cs typeface="Times New Roman"/>
              </a:rPr>
              <a:t>Publisher Specialization:</a:t>
            </a:r>
            <a:r>
              <a:rPr lang="en-US" sz="1800">
                <a:solidFill>
                  <a:srgbClr val="1F2328"/>
                </a:solidFill>
                <a:highlight>
                  <a:srgbClr val="FFFFFF"/>
                </a:highlight>
                <a:latin typeface="Times New Roman"/>
                <a:ea typeface="+mn-lt"/>
                <a:cs typeface="Times New Roman"/>
              </a:rPr>
              <a:t> Is there a statistically significant correlation between a publisher’s genre focus and their financial performance?</a:t>
            </a:r>
            <a:endParaRPr lang="en-US" sz="1800">
              <a:latin typeface="Times New Roman"/>
              <a:cs typeface="Times New Roman"/>
            </a:endParaRPr>
          </a:p>
          <a:p>
            <a:endParaRPr lang="en-US" sz="1800">
              <a:solidFill>
                <a:srgbClr val="1F2328"/>
              </a:solidFill>
              <a:highlight>
                <a:srgbClr val="FFFFFF"/>
              </a:highlight>
              <a:latin typeface="Times New Roman"/>
              <a:ea typeface="+mn-lt"/>
              <a:cs typeface="Times New Roman"/>
            </a:endParaRPr>
          </a:p>
          <a:p>
            <a:r>
              <a:rPr lang="en-US" sz="1800" b="1">
                <a:solidFill>
                  <a:srgbClr val="1F2328"/>
                </a:solidFill>
                <a:highlight>
                  <a:srgbClr val="FFFFFF"/>
                </a:highlight>
                <a:latin typeface="Times New Roman"/>
                <a:ea typeface="+mn-lt"/>
                <a:cs typeface="Times New Roman"/>
              </a:rPr>
              <a:t>Indie Breakthroughs:</a:t>
            </a:r>
            <a:r>
              <a:rPr lang="en-US" sz="1800">
                <a:solidFill>
                  <a:srgbClr val="1F2328"/>
                </a:solidFill>
                <a:highlight>
                  <a:srgbClr val="FFFFFF"/>
                </a:highlight>
                <a:latin typeface="Times New Roman"/>
                <a:ea typeface="+mn-lt"/>
                <a:cs typeface="Times New Roman"/>
              </a:rPr>
              <a:t> Through what types of genre innovation do indie titles achieve market breakthroughs?</a:t>
            </a:r>
            <a:endParaRPr lang="en-US" sz="1800">
              <a:latin typeface="Times New Roman"/>
              <a:cs typeface="Times New Roman"/>
            </a:endParaRPr>
          </a:p>
          <a:p>
            <a:endParaRPr lang="en-US" sz="1800">
              <a:solidFill>
                <a:srgbClr val="1F2328"/>
              </a:solidFill>
              <a:highlight>
                <a:srgbClr val="FFFFFF"/>
              </a:highlight>
              <a:latin typeface="Times New Roman"/>
              <a:ea typeface="+mn-lt"/>
              <a:cs typeface="Times New Roman"/>
            </a:endParaRPr>
          </a:p>
          <a:p>
            <a:r>
              <a:rPr lang="en-US" sz="1800" b="1">
                <a:solidFill>
                  <a:srgbClr val="1F2328"/>
                </a:solidFill>
                <a:highlight>
                  <a:srgbClr val="FFFFFF"/>
                </a:highlight>
                <a:latin typeface="Times New Roman"/>
                <a:ea typeface="+mn-lt"/>
                <a:cs typeface="Times New Roman"/>
              </a:rPr>
              <a:t>Market Distribution:</a:t>
            </a:r>
            <a:r>
              <a:rPr lang="en-US" sz="1800">
                <a:solidFill>
                  <a:srgbClr val="1F2328"/>
                </a:solidFill>
                <a:highlight>
                  <a:srgbClr val="FFFFFF"/>
                </a:highlight>
                <a:latin typeface="Times New Roman"/>
                <a:ea typeface="+mn-lt"/>
                <a:cs typeface="Times New Roman"/>
              </a:rPr>
              <a:t> What is the statistical genre distribution among the Global Top 100 best-selling games across longitudinal trend lines?</a:t>
            </a:r>
            <a:br>
              <a:rPr lang="en-US" sz="1800">
                <a:latin typeface="Times New Roman"/>
                <a:cs typeface="Times New Roman"/>
              </a:rPr>
            </a:br>
            <a:endParaRPr lang="en-US" sz="1800">
              <a:latin typeface="Times New Roman"/>
              <a:cs typeface="Times New Roman"/>
            </a:endParaRPr>
          </a:p>
        </p:txBody>
      </p:sp>
    </p:spTree>
    <p:extLst>
      <p:ext uri="{BB962C8B-B14F-4D97-AF65-F5344CB8AC3E}">
        <p14:creationId xmlns:p14="http://schemas.microsoft.com/office/powerpoint/2010/main" val="2460876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ADF28-7750-121C-0117-E448E7A76C8F}"/>
              </a:ext>
            </a:extLst>
          </p:cNvPr>
          <p:cNvSpPr>
            <a:spLocks noGrp="1"/>
          </p:cNvSpPr>
          <p:nvPr>
            <p:ph type="title"/>
          </p:nvPr>
        </p:nvSpPr>
        <p:spPr/>
        <p:txBody>
          <a:bodyPr/>
          <a:lstStyle/>
          <a:p>
            <a:r>
              <a:rPr lang="en-US">
                <a:latin typeface="Times New Roman"/>
                <a:cs typeface="Times New Roman"/>
              </a:rPr>
              <a:t>Dataset &amp; Data Cleaning</a:t>
            </a:r>
          </a:p>
        </p:txBody>
      </p:sp>
      <p:sp>
        <p:nvSpPr>
          <p:cNvPr id="12" name="Content Placeholder 11">
            <a:extLst>
              <a:ext uri="{FF2B5EF4-FFF2-40B4-BE49-F238E27FC236}">
                <a16:creationId xmlns:a16="http://schemas.microsoft.com/office/drawing/2014/main" id="{CCA50362-EB66-BE74-BEB3-68F911A03EC4}"/>
              </a:ext>
            </a:extLst>
          </p:cNvPr>
          <p:cNvSpPr>
            <a:spLocks noGrp="1"/>
          </p:cNvSpPr>
          <p:nvPr>
            <p:ph idx="1"/>
          </p:nvPr>
        </p:nvSpPr>
        <p:spPr>
          <a:xfrm>
            <a:off x="838200" y="1694461"/>
            <a:ext cx="10515600" cy="4351338"/>
          </a:xfrm>
        </p:spPr>
        <p:txBody>
          <a:bodyPr vert="horz" lIns="91440" tIns="45720" rIns="91440" bIns="45720" rtlCol="0" anchor="t">
            <a:normAutofit/>
          </a:bodyPr>
          <a:lstStyle/>
          <a:p>
            <a:pPr marL="0" indent="0">
              <a:buNone/>
            </a:pPr>
            <a:r>
              <a:rPr lang="en-US" sz="2000">
                <a:solidFill>
                  <a:srgbClr val="1F2328"/>
                </a:solidFill>
                <a:highlight>
                  <a:srgbClr val="FFFFFF"/>
                </a:highlight>
                <a:latin typeface="Times New Roman"/>
                <a:ea typeface="+mn-lt"/>
                <a:cs typeface="Times New Roman"/>
              </a:rPr>
              <a:t>The analysis utilizes the following datasets:</a:t>
            </a:r>
            <a:endParaRPr lang="en-US" sz="2000">
              <a:latin typeface="Times New Roman"/>
              <a:cs typeface="Times New Roman"/>
            </a:endParaRPr>
          </a:p>
          <a:p>
            <a:r>
              <a:rPr lang="en-US" sz="2000" b="1">
                <a:solidFill>
                  <a:srgbClr val="1F2328"/>
                </a:solidFill>
                <a:highlight>
                  <a:srgbClr val="FFFFFF"/>
                </a:highlight>
                <a:latin typeface="Times New Roman"/>
                <a:ea typeface="+mn-lt"/>
                <a:cs typeface="Times New Roman"/>
              </a:rPr>
              <a:t>Steam Insights (October 2024):</a:t>
            </a:r>
            <a:r>
              <a:rPr lang="en-US" sz="2000">
                <a:solidFill>
                  <a:srgbClr val="1F2328"/>
                </a:solidFill>
                <a:highlight>
                  <a:srgbClr val="FFFFFF"/>
                </a:highlight>
                <a:latin typeface="Times New Roman"/>
                <a:ea typeface="+mn-lt"/>
                <a:cs typeface="Times New Roman"/>
              </a:rPr>
              <a:t> A comprehensive database including game details, genres, reviews, tags, and </a:t>
            </a:r>
            <a:r>
              <a:rPr lang="en-US" sz="2000" err="1">
                <a:solidFill>
                  <a:srgbClr val="1F2328"/>
                </a:solidFill>
                <a:highlight>
                  <a:srgbClr val="FFFFFF"/>
                </a:highlight>
                <a:latin typeface="Times New Roman"/>
                <a:ea typeface="+mn-lt"/>
                <a:cs typeface="Times New Roman"/>
              </a:rPr>
              <a:t>SteamSpy</a:t>
            </a:r>
            <a:r>
              <a:rPr lang="en-US" sz="2000">
                <a:solidFill>
                  <a:srgbClr val="1F2328"/>
                </a:solidFill>
                <a:highlight>
                  <a:srgbClr val="FFFFFF"/>
                </a:highlight>
                <a:latin typeface="Times New Roman"/>
                <a:ea typeface="+mn-lt"/>
                <a:cs typeface="Times New Roman"/>
              </a:rPr>
              <a:t> insights.</a:t>
            </a:r>
            <a:br>
              <a:rPr lang="en-US" sz="2000">
                <a:highlight>
                  <a:srgbClr val="FFFFFF"/>
                </a:highlight>
                <a:latin typeface="Times New Roman"/>
                <a:ea typeface="+mn-lt"/>
                <a:cs typeface="Times New Roman"/>
              </a:rPr>
            </a:br>
            <a:r>
              <a:rPr lang="en-US" sz="2000">
                <a:solidFill>
                  <a:srgbClr val="1F2328"/>
                </a:solidFill>
                <a:highlight>
                  <a:srgbClr val="FFFFFF"/>
                </a:highlight>
                <a:latin typeface="Times New Roman"/>
                <a:ea typeface="+mn-lt"/>
                <a:cs typeface="Times New Roman"/>
                <a:hlinkClick r:id="rId2"/>
              </a:rPr>
              <a:t>Source: </a:t>
            </a:r>
            <a:r>
              <a:rPr lang="en-US" sz="2000" err="1">
                <a:solidFill>
                  <a:srgbClr val="1F2328"/>
                </a:solidFill>
                <a:highlight>
                  <a:srgbClr val="FFFFFF"/>
                </a:highlight>
                <a:latin typeface="Times New Roman"/>
                <a:ea typeface="+mn-lt"/>
                <a:cs typeface="Times New Roman"/>
                <a:hlinkClick r:id="rId2"/>
              </a:rPr>
              <a:t>NewbieIndieGameDev</a:t>
            </a:r>
            <a:r>
              <a:rPr lang="en-US" sz="2000">
                <a:solidFill>
                  <a:srgbClr val="1F2328"/>
                </a:solidFill>
                <a:highlight>
                  <a:srgbClr val="FFFFFF"/>
                </a:highlight>
                <a:latin typeface="Times New Roman"/>
                <a:ea typeface="+mn-lt"/>
                <a:cs typeface="Times New Roman"/>
                <a:hlinkClick r:id="rId2"/>
              </a:rPr>
              <a:t>/steam-insights</a:t>
            </a:r>
            <a:endParaRPr lang="en-US" sz="2000">
              <a:latin typeface="Times New Roman"/>
              <a:cs typeface="Times New Roman"/>
            </a:endParaRPr>
          </a:p>
          <a:p>
            <a:endParaRPr lang="en-US" sz="2000">
              <a:solidFill>
                <a:srgbClr val="1F2328"/>
              </a:solidFill>
              <a:highlight>
                <a:srgbClr val="FFFFFF"/>
              </a:highlight>
              <a:latin typeface="Times New Roman"/>
              <a:ea typeface="+mn-lt"/>
              <a:cs typeface="Times New Roman"/>
            </a:endParaRPr>
          </a:p>
          <a:p>
            <a:r>
              <a:rPr lang="en-US" sz="2000" b="1">
                <a:solidFill>
                  <a:srgbClr val="1F2328"/>
                </a:solidFill>
                <a:highlight>
                  <a:srgbClr val="FFFFFF"/>
                </a:highlight>
                <a:latin typeface="Times New Roman"/>
                <a:ea typeface="+mn-lt"/>
                <a:cs typeface="Times New Roman"/>
              </a:rPr>
              <a:t>Video Game Sales Dataset:</a:t>
            </a:r>
            <a:r>
              <a:rPr lang="en-US" sz="2000">
                <a:solidFill>
                  <a:srgbClr val="1F2328"/>
                </a:solidFill>
                <a:highlight>
                  <a:srgbClr val="FFFFFF"/>
                </a:highlight>
                <a:latin typeface="Times New Roman"/>
                <a:ea typeface="+mn-lt"/>
                <a:cs typeface="Times New Roman"/>
              </a:rPr>
              <a:t> A dataset analyzing sales data from more than 16,500 games from multiple platform(Xbox, PlayStation, Nintendo, etc.)</a:t>
            </a:r>
            <a:br>
              <a:rPr lang="en-US" sz="2000">
                <a:highlight>
                  <a:srgbClr val="FFFFFF"/>
                </a:highlight>
                <a:latin typeface="Times New Roman"/>
                <a:ea typeface="+mn-lt"/>
                <a:cs typeface="Times New Roman"/>
              </a:rPr>
            </a:br>
            <a:r>
              <a:rPr lang="en-US" sz="2000">
                <a:solidFill>
                  <a:srgbClr val="1F2328"/>
                </a:solidFill>
                <a:highlight>
                  <a:srgbClr val="FFFFFF"/>
                </a:highlight>
                <a:latin typeface="Times New Roman"/>
                <a:ea typeface="+mn-lt"/>
                <a:cs typeface="Times New Roman"/>
                <a:hlinkClick r:id="rId3"/>
              </a:rPr>
              <a:t>Source: Kaggle - Video Game Sales</a:t>
            </a:r>
            <a:endParaRPr lang="en-US" sz="2000">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1143154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97048-74D4-7049-A090-D7624228EB99}"/>
              </a:ext>
            </a:extLst>
          </p:cNvPr>
          <p:cNvSpPr>
            <a:spLocks noGrp="1"/>
          </p:cNvSpPr>
          <p:nvPr>
            <p:ph type="title"/>
          </p:nvPr>
        </p:nvSpPr>
        <p:spPr>
          <a:xfrm>
            <a:off x="838200" y="227715"/>
            <a:ext cx="10515600" cy="1325563"/>
          </a:xfrm>
        </p:spPr>
        <p:txBody>
          <a:bodyPr>
            <a:normAutofit/>
          </a:bodyPr>
          <a:lstStyle/>
          <a:p>
            <a:r>
              <a:rPr lang="en-US">
                <a:solidFill>
                  <a:srgbClr val="1A1C1F"/>
                </a:solidFill>
                <a:highlight>
                  <a:srgbClr val="FFFFFF"/>
                </a:highlight>
                <a:latin typeface="Times New Roman"/>
                <a:ea typeface="+mj-lt"/>
                <a:cs typeface="Times New Roman"/>
              </a:rPr>
              <a:t>Cleaning Strategy</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32463383-84B9-3A65-F6C8-779F777D614B}"/>
              </a:ext>
            </a:extLst>
          </p:cNvPr>
          <p:cNvSpPr>
            <a:spLocks noGrp="1"/>
          </p:cNvSpPr>
          <p:nvPr>
            <p:ph idx="1"/>
          </p:nvPr>
        </p:nvSpPr>
        <p:spPr>
          <a:xfrm>
            <a:off x="838200" y="1557051"/>
            <a:ext cx="10515600" cy="4713600"/>
          </a:xfrm>
        </p:spPr>
        <p:txBody>
          <a:bodyPr vert="horz" lIns="91440" tIns="45720" rIns="91440" bIns="45720" rtlCol="0" anchor="t">
            <a:noAutofit/>
          </a:bodyPr>
          <a:lstStyle/>
          <a:p>
            <a:pPr marL="457200" indent="-457200">
              <a:buAutoNum type="arabicPeriod"/>
            </a:pPr>
            <a:r>
              <a:rPr lang="en-US" sz="2000" b="1">
                <a:solidFill>
                  <a:srgbClr val="1A1C1F"/>
                </a:solidFill>
                <a:highlight>
                  <a:srgbClr val="FFFFFF"/>
                </a:highlight>
                <a:latin typeface="Times New Roman"/>
                <a:ea typeface="+mn-lt"/>
                <a:cs typeface="Times New Roman"/>
              </a:rPr>
              <a:t>Robust CSV parsing</a:t>
            </a:r>
            <a:br>
              <a:rPr lang="en-US" sz="2000" b="1">
                <a:highlight>
                  <a:srgbClr val="FFFFFF"/>
                </a:highlight>
                <a:latin typeface="Times New Roman"/>
                <a:ea typeface="+mn-lt"/>
                <a:cs typeface="Times New Roman"/>
              </a:rPr>
            </a:br>
            <a:r>
              <a:rPr lang="en-US" sz="2000">
                <a:solidFill>
                  <a:srgbClr val="1A1C1F"/>
                </a:solidFill>
                <a:highlight>
                  <a:srgbClr val="FFFFFF"/>
                </a:highlight>
                <a:latin typeface="Times New Roman"/>
                <a:ea typeface="+mn-lt"/>
                <a:cs typeface="Times New Roman"/>
              </a:rPr>
              <a:t>The original datasets contain escaped quotes, HTML snippets, and multiline text, so we use </a:t>
            </a:r>
            <a:r>
              <a:rPr lang="en-US" sz="2000" err="1">
                <a:solidFill>
                  <a:srgbClr val="1A1C1F"/>
                </a:solidFill>
                <a:highlight>
                  <a:srgbClr val="FFFFFF"/>
                </a:highlight>
                <a:latin typeface="Times New Roman"/>
                <a:ea typeface="+mn-lt"/>
                <a:cs typeface="Times New Roman"/>
              </a:rPr>
              <a:t>escapechar</a:t>
            </a:r>
            <a:r>
              <a:rPr lang="en-US" sz="2000">
                <a:solidFill>
                  <a:srgbClr val="1A1C1F"/>
                </a:solidFill>
                <a:highlight>
                  <a:srgbClr val="FFFFFF"/>
                </a:highlight>
                <a:latin typeface="Times New Roman"/>
                <a:ea typeface="+mn-lt"/>
                <a:cs typeface="Times New Roman"/>
              </a:rPr>
              <a:t>='\\' and a stable parser when reading the CSV files.</a:t>
            </a:r>
            <a:endParaRPr lang="en-US">
              <a:latin typeface="Times New Roman"/>
              <a:cs typeface="Times New Roman"/>
            </a:endParaRPr>
          </a:p>
          <a:p>
            <a:pPr marL="457200" indent="-457200">
              <a:buAutoNum type="arabicPeriod"/>
            </a:pPr>
            <a:r>
              <a:rPr lang="en-US" sz="2000" b="1">
                <a:solidFill>
                  <a:srgbClr val="1A1C1F"/>
                </a:solidFill>
                <a:highlight>
                  <a:srgbClr val="FFFFFF"/>
                </a:highlight>
                <a:latin typeface="Times New Roman"/>
                <a:ea typeface="+mn-lt"/>
                <a:cs typeface="Times New Roman"/>
              </a:rPr>
              <a:t>Column selection</a:t>
            </a:r>
            <a:br>
              <a:rPr lang="en-US" sz="2000" b="1">
                <a:highlight>
                  <a:srgbClr val="FFFFFF"/>
                </a:highlight>
                <a:latin typeface="Times New Roman"/>
                <a:ea typeface="+mn-lt"/>
                <a:cs typeface="Times New Roman"/>
              </a:rPr>
            </a:br>
            <a:r>
              <a:rPr lang="en-US" sz="2000">
                <a:solidFill>
                  <a:srgbClr val="1A1C1F"/>
                </a:solidFill>
                <a:highlight>
                  <a:srgbClr val="FFFFFF"/>
                </a:highlight>
                <a:latin typeface="Times New Roman"/>
                <a:ea typeface="+mn-lt"/>
                <a:cs typeface="Times New Roman"/>
              </a:rPr>
              <a:t>We keep only the columns related to our research questions and drop unrelated columns.</a:t>
            </a:r>
            <a:endParaRPr lang="ja-JP">
              <a:latin typeface="Times New Roman"/>
              <a:ea typeface="+mn-lt"/>
              <a:cs typeface="Times New Roman"/>
            </a:endParaRPr>
          </a:p>
          <a:p>
            <a:pPr marL="457200" indent="-457200">
              <a:buAutoNum type="arabicPeriod"/>
            </a:pPr>
            <a:r>
              <a:rPr lang="en-US" sz="2000" b="1">
                <a:solidFill>
                  <a:srgbClr val="1A1C1F"/>
                </a:solidFill>
                <a:highlight>
                  <a:srgbClr val="FFFFFF"/>
                </a:highlight>
                <a:latin typeface="Times New Roman"/>
                <a:ea typeface="+mn-lt"/>
                <a:cs typeface="Times New Roman"/>
              </a:rPr>
              <a:t>Missing value normalization</a:t>
            </a:r>
            <a:br>
              <a:rPr lang="en-US" sz="2000" b="1">
                <a:highlight>
                  <a:srgbClr val="FFFFFF"/>
                </a:highlight>
                <a:latin typeface="Times New Roman"/>
                <a:ea typeface="+mn-lt"/>
                <a:cs typeface="Times New Roman"/>
              </a:rPr>
            </a:br>
            <a:r>
              <a:rPr lang="en-US" sz="2000">
                <a:solidFill>
                  <a:srgbClr val="1A1C1F"/>
                </a:solidFill>
                <a:highlight>
                  <a:srgbClr val="FFFFFF"/>
                </a:highlight>
                <a:latin typeface="Times New Roman"/>
                <a:ea typeface="+mn-lt"/>
                <a:cs typeface="Times New Roman"/>
              </a:rPr>
              <a:t>We convert \N, N, empty strings, None, and </a:t>
            </a:r>
            <a:r>
              <a:rPr lang="en-US" sz="2000" err="1">
                <a:solidFill>
                  <a:srgbClr val="1A1C1F"/>
                </a:solidFill>
                <a:highlight>
                  <a:srgbClr val="FFFFFF"/>
                </a:highlight>
                <a:latin typeface="Times New Roman"/>
                <a:ea typeface="+mn-lt"/>
                <a:cs typeface="Times New Roman"/>
              </a:rPr>
              <a:t>NaN</a:t>
            </a:r>
            <a:r>
              <a:rPr lang="en-US" sz="2000">
                <a:solidFill>
                  <a:srgbClr val="1A1C1F"/>
                </a:solidFill>
                <a:highlight>
                  <a:srgbClr val="FFFFFF"/>
                </a:highlight>
                <a:latin typeface="Times New Roman"/>
                <a:ea typeface="+mn-lt"/>
                <a:cs typeface="Times New Roman"/>
              </a:rPr>
              <a:t> into standardized missing values.</a:t>
            </a:r>
            <a:endParaRPr lang="en-US">
              <a:latin typeface="Times New Roman"/>
              <a:cs typeface="Times New Roman"/>
            </a:endParaRPr>
          </a:p>
          <a:p>
            <a:pPr marL="457200" indent="-457200">
              <a:buAutoNum type="arabicPeriod"/>
            </a:pPr>
            <a:r>
              <a:rPr lang="en-US" sz="2000" b="1">
                <a:solidFill>
                  <a:srgbClr val="1A1C1F"/>
                </a:solidFill>
                <a:highlight>
                  <a:srgbClr val="FFFFFF"/>
                </a:highlight>
                <a:latin typeface="Times New Roman"/>
                <a:ea typeface="+mn-lt"/>
                <a:cs typeface="Times New Roman"/>
              </a:rPr>
              <a:t>Type conversion</a:t>
            </a:r>
            <a:br>
              <a:rPr lang="en-US" sz="2000" b="1">
                <a:highlight>
                  <a:srgbClr val="FFFFFF"/>
                </a:highlight>
                <a:latin typeface="Times New Roman"/>
                <a:ea typeface="+mn-lt"/>
                <a:cs typeface="Times New Roman"/>
              </a:rPr>
            </a:br>
            <a:r>
              <a:rPr lang="en-US" sz="2000">
                <a:solidFill>
                  <a:srgbClr val="1A1C1F"/>
                </a:solidFill>
                <a:highlight>
                  <a:srgbClr val="FFFFFF"/>
                </a:highlight>
                <a:latin typeface="Times New Roman"/>
                <a:ea typeface="+mn-lt"/>
                <a:cs typeface="Times New Roman"/>
              </a:rPr>
              <a:t>We convert </a:t>
            </a:r>
            <a:r>
              <a:rPr lang="en-US" sz="2000" err="1">
                <a:solidFill>
                  <a:srgbClr val="1A1C1F"/>
                </a:solidFill>
                <a:highlight>
                  <a:srgbClr val="FFFFFF"/>
                </a:highlight>
                <a:latin typeface="Times New Roman"/>
                <a:ea typeface="+mn-lt"/>
                <a:cs typeface="Times New Roman"/>
              </a:rPr>
              <a:t>app_id</a:t>
            </a:r>
            <a:r>
              <a:rPr lang="en-US" sz="2000">
                <a:solidFill>
                  <a:srgbClr val="1A1C1F"/>
                </a:solidFill>
                <a:highlight>
                  <a:srgbClr val="FFFFFF"/>
                </a:highlight>
                <a:latin typeface="Times New Roman"/>
                <a:ea typeface="+mn-lt"/>
                <a:cs typeface="Times New Roman"/>
              </a:rPr>
              <a:t>, review counts, sales, and prices into numeric data types. We also convert game prices from cents to dollars, for example, from 999 cents to $9.99.</a:t>
            </a:r>
            <a:endParaRPr lang="en-US">
              <a:latin typeface="Times New Roman"/>
              <a:ea typeface="+mn-lt"/>
              <a:cs typeface="Times New Roman"/>
            </a:endParaRPr>
          </a:p>
          <a:p>
            <a:pPr marL="457200" indent="-457200">
              <a:buAutoNum type="arabicPeriod"/>
            </a:pPr>
            <a:r>
              <a:rPr lang="en-US" sz="2000" b="1">
                <a:solidFill>
                  <a:srgbClr val="1A1C1F"/>
                </a:solidFill>
                <a:highlight>
                  <a:srgbClr val="FFFFFF"/>
                </a:highlight>
                <a:latin typeface="Times New Roman"/>
                <a:ea typeface="+mn-lt"/>
                <a:cs typeface="Times New Roman"/>
              </a:rPr>
              <a:t>Normalization and deduplication</a:t>
            </a:r>
            <a:br>
              <a:rPr lang="en-US" sz="2000" b="1">
                <a:highlight>
                  <a:srgbClr val="FFFFFF"/>
                </a:highlight>
                <a:latin typeface="Times New Roman"/>
                <a:ea typeface="+mn-lt"/>
                <a:cs typeface="Times New Roman"/>
              </a:rPr>
            </a:br>
            <a:r>
              <a:rPr lang="en-US" sz="2000">
                <a:solidFill>
                  <a:srgbClr val="1A1C1F"/>
                </a:solidFill>
                <a:highlight>
                  <a:srgbClr val="FFFFFF"/>
                </a:highlight>
                <a:latin typeface="Times New Roman"/>
                <a:ea typeface="+mn-lt"/>
                <a:cs typeface="Times New Roman"/>
              </a:rPr>
              <a:t>The dataset contains genres and categories in multiple languages. We map and standardize these values into English, then remove duplicate records.</a:t>
            </a:r>
            <a:endParaRPr lang="en-US">
              <a:latin typeface="Times New Roman"/>
              <a:ea typeface="+mn-lt"/>
              <a:cs typeface="Times New Roman"/>
            </a:endParaRPr>
          </a:p>
          <a:p>
            <a:pPr>
              <a:buAutoNum type="arabicPeriod"/>
            </a:pPr>
            <a:endParaRPr lang="en-US" altLang="ja-JP" sz="2000">
              <a:solidFill>
                <a:srgbClr val="1A1C1F"/>
              </a:solidFill>
              <a:highlight>
                <a:srgbClr val="FFFFFF"/>
              </a:highlight>
            </a:endParaRPr>
          </a:p>
        </p:txBody>
      </p:sp>
    </p:spTree>
    <p:extLst>
      <p:ext uri="{BB962C8B-B14F-4D97-AF65-F5344CB8AC3E}">
        <p14:creationId xmlns:p14="http://schemas.microsoft.com/office/powerpoint/2010/main" val="456311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919F892-6524-940A-EAC8-AD60D4D11219}"/>
              </a:ext>
            </a:extLst>
          </p:cNvPr>
          <p:cNvGraphicFramePr>
            <a:graphicFrameLocks noGrp="1"/>
          </p:cNvGraphicFramePr>
          <p:nvPr>
            <p:ph idx="1"/>
            <p:extLst>
              <p:ext uri="{D42A27DB-BD31-4B8C-83A1-F6EECF244321}">
                <p14:modId xmlns:p14="http://schemas.microsoft.com/office/powerpoint/2010/main" val="2665307148"/>
              </p:ext>
            </p:extLst>
          </p:nvPr>
        </p:nvGraphicFramePr>
        <p:xfrm>
          <a:off x="655820" y="1430311"/>
          <a:ext cx="10877867" cy="3886200"/>
        </p:xfrm>
        <a:graphic>
          <a:graphicData uri="http://schemas.openxmlformats.org/drawingml/2006/table">
            <a:tbl>
              <a:tblPr bandRow="1">
                <a:tableStyleId>{5C22544A-7EE6-4342-B048-85BDC9FD1C3A}</a:tableStyleId>
              </a:tblPr>
              <a:tblGrid>
                <a:gridCol w="3544299">
                  <a:extLst>
                    <a:ext uri="{9D8B030D-6E8A-4147-A177-3AD203B41FA5}">
                      <a16:colId xmlns:a16="http://schemas.microsoft.com/office/drawing/2014/main" val="4181689063"/>
                    </a:ext>
                  </a:extLst>
                </a:gridCol>
                <a:gridCol w="3677207">
                  <a:extLst>
                    <a:ext uri="{9D8B030D-6E8A-4147-A177-3AD203B41FA5}">
                      <a16:colId xmlns:a16="http://schemas.microsoft.com/office/drawing/2014/main" val="2273900521"/>
                    </a:ext>
                  </a:extLst>
                </a:gridCol>
                <a:gridCol w="3656361">
                  <a:extLst>
                    <a:ext uri="{9D8B030D-6E8A-4147-A177-3AD203B41FA5}">
                      <a16:colId xmlns:a16="http://schemas.microsoft.com/office/drawing/2014/main" val="2379056871"/>
                    </a:ext>
                  </a:extLst>
                </a:gridCol>
              </a:tblGrid>
              <a:tr h="0">
                <a:tc>
                  <a:txBody>
                    <a:bodyPr/>
                    <a:lstStyle/>
                    <a:p>
                      <a:pPr algn="l" fontAlgn="t">
                        <a:buNone/>
                      </a:pPr>
                      <a:r>
                        <a:rPr lang="en-US" sz="2000" b="1">
                          <a:solidFill>
                            <a:srgbClr val="1A1C1F"/>
                          </a:solidFill>
                          <a:effectLst/>
                          <a:latin typeface="Times New Roman"/>
                          <a:cs typeface="Times New Roman"/>
                        </a:rPr>
                        <a:t>Table</a:t>
                      </a:r>
                    </a:p>
                  </a:txBody>
                  <a:tcPr marL="38100" marR="38100" marT="38100" marB="381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buNone/>
                      </a:pPr>
                      <a:r>
                        <a:rPr lang="en-US" sz="2000" b="1">
                          <a:solidFill>
                            <a:srgbClr val="1A1C1F"/>
                          </a:solidFill>
                          <a:effectLst/>
                          <a:latin typeface="Times New Roman"/>
                          <a:cs typeface="Times New Roman"/>
                        </a:rPr>
                        <a:t>Rows</a:t>
                      </a:r>
                    </a:p>
                  </a:txBody>
                  <a:tcPr marL="38100" marR="38100" marT="38100" marB="381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buNone/>
                      </a:pPr>
                      <a:r>
                        <a:rPr lang="en-US" sz="2000" b="1">
                          <a:solidFill>
                            <a:srgbClr val="1A1C1F"/>
                          </a:solidFill>
                          <a:effectLst/>
                          <a:latin typeface="Times New Roman"/>
                          <a:cs typeface="Times New Roman"/>
                        </a:rPr>
                        <a:t>Main Fields</a:t>
                      </a:r>
                    </a:p>
                  </a:txBody>
                  <a:tcPr marL="38100" marR="38100" marT="38100" marB="381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41610922"/>
                  </a:ext>
                </a:extLst>
              </a:tr>
              <a:tr h="0">
                <a:tc>
                  <a:txBody>
                    <a:bodyPr/>
                    <a:lstStyle/>
                    <a:p>
                      <a:pPr fontAlgn="t">
                        <a:buNone/>
                      </a:pPr>
                      <a:r>
                        <a:rPr lang="en-US" sz="2000">
                          <a:effectLst/>
                          <a:latin typeface="Times New Roman"/>
                          <a:cs typeface="Times New Roman"/>
                        </a:rPr>
                        <a:t>games_clean.csv</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a:effectLst/>
                          <a:latin typeface="Times New Roman"/>
                          <a:cs typeface="Times New Roman"/>
                        </a:rPr>
                        <a:t>140,082</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err="1">
                          <a:effectLst/>
                          <a:latin typeface="Times New Roman"/>
                          <a:cs typeface="Times New Roman"/>
                        </a:rPr>
                        <a:t>app_id</a:t>
                      </a:r>
                      <a:r>
                        <a:rPr lang="en-US" sz="2000">
                          <a:effectLst/>
                          <a:latin typeface="Times New Roman"/>
                          <a:cs typeface="Times New Roman"/>
                        </a:rPr>
                        <a:t>, name, </a:t>
                      </a:r>
                      <a:r>
                        <a:rPr lang="en-US" sz="2000" err="1">
                          <a:effectLst/>
                          <a:latin typeface="Times New Roman"/>
                          <a:cs typeface="Times New Roman"/>
                        </a:rPr>
                        <a:t>release_date</a:t>
                      </a:r>
                      <a:r>
                        <a:rPr lang="en-US" sz="2000">
                          <a:effectLst/>
                          <a:latin typeface="Times New Roman"/>
                          <a:cs typeface="Times New Roman"/>
                        </a:rPr>
                        <a:t>, </a:t>
                      </a:r>
                      <a:r>
                        <a:rPr lang="en-US" sz="2000" err="1">
                          <a:effectLst/>
                          <a:latin typeface="Times New Roman"/>
                          <a:cs typeface="Times New Roman"/>
                        </a:rPr>
                        <a:t>is_free</a:t>
                      </a:r>
                      <a:r>
                        <a:rPr lang="en-US" sz="2000">
                          <a:effectLst/>
                          <a:latin typeface="Times New Roman"/>
                          <a:cs typeface="Times New Roman"/>
                        </a:rPr>
                        <a:t>, developer, publisher, </a:t>
                      </a:r>
                      <a:r>
                        <a:rPr lang="en-US" sz="2000" err="1">
                          <a:effectLst/>
                          <a:latin typeface="Times New Roman"/>
                          <a:cs typeface="Times New Roman"/>
                        </a:rPr>
                        <a:t>owners_range</a:t>
                      </a:r>
                      <a:r>
                        <a:rPr lang="en-US" sz="2000">
                          <a:effectLst/>
                          <a:latin typeface="Times New Roman"/>
                          <a:cs typeface="Times New Roman"/>
                        </a:rPr>
                        <a:t>, price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03299569"/>
                  </a:ext>
                </a:extLst>
              </a:tr>
              <a:tr h="0">
                <a:tc>
                  <a:txBody>
                    <a:bodyPr/>
                    <a:lstStyle/>
                    <a:p>
                      <a:pPr fontAlgn="t">
                        <a:buNone/>
                      </a:pPr>
                      <a:r>
                        <a:rPr lang="en-US" sz="2000">
                          <a:effectLst/>
                          <a:latin typeface="Times New Roman"/>
                          <a:cs typeface="Times New Roman"/>
                        </a:rPr>
                        <a:t>genres_clean.csv</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a:effectLst/>
                          <a:latin typeface="Times New Roman"/>
                          <a:cs typeface="Times New Roman"/>
                        </a:rPr>
                        <a:t>353,339</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err="1">
                          <a:effectLst/>
                          <a:latin typeface="Times New Roman"/>
                          <a:cs typeface="Times New Roman"/>
                        </a:rPr>
                        <a:t>app_id</a:t>
                      </a:r>
                      <a:r>
                        <a:rPr lang="en-US" sz="2000">
                          <a:effectLst/>
                          <a:latin typeface="Times New Roman"/>
                          <a:cs typeface="Times New Roman"/>
                        </a:rPr>
                        <a:t>, genre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85146766"/>
                  </a:ext>
                </a:extLst>
              </a:tr>
              <a:tr h="345781">
                <a:tc>
                  <a:txBody>
                    <a:bodyPr/>
                    <a:lstStyle/>
                    <a:p>
                      <a:pPr fontAlgn="t">
                        <a:buNone/>
                      </a:pPr>
                      <a:r>
                        <a:rPr lang="en-US" sz="2000">
                          <a:effectLst/>
                          <a:latin typeface="Times New Roman"/>
                          <a:cs typeface="Times New Roman"/>
                        </a:rPr>
                        <a:t>tags_clean.csv</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a:effectLst/>
                          <a:latin typeface="Times New Roman"/>
                          <a:cs typeface="Times New Roman"/>
                        </a:rPr>
                        <a:t>1,744,632</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err="1">
                          <a:effectLst/>
                          <a:latin typeface="Times New Roman"/>
                          <a:cs typeface="Times New Roman"/>
                        </a:rPr>
                        <a:t>app_id</a:t>
                      </a:r>
                      <a:r>
                        <a:rPr lang="en-US" sz="2000">
                          <a:effectLst/>
                          <a:latin typeface="Times New Roman"/>
                          <a:cs typeface="Times New Roman"/>
                        </a:rPr>
                        <a:t>, tag</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42943533"/>
                  </a:ext>
                </a:extLst>
              </a:tr>
              <a:tr h="0">
                <a:tc>
                  <a:txBody>
                    <a:bodyPr/>
                    <a:lstStyle/>
                    <a:p>
                      <a:pPr fontAlgn="t">
                        <a:buNone/>
                      </a:pPr>
                      <a:r>
                        <a:rPr lang="en-US" sz="2000">
                          <a:effectLst/>
                          <a:latin typeface="Times New Roman"/>
                          <a:cs typeface="Times New Roman"/>
                        </a:rPr>
                        <a:t>categories_clean.csv</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a:effectLst/>
                          <a:latin typeface="Times New Roman"/>
                          <a:cs typeface="Times New Roman"/>
                        </a:rPr>
                        <a:t>522,569</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err="1">
                          <a:effectLst/>
                          <a:latin typeface="Times New Roman"/>
                          <a:cs typeface="Times New Roman"/>
                        </a:rPr>
                        <a:t>app_id</a:t>
                      </a:r>
                      <a:r>
                        <a:rPr lang="en-US" sz="2000">
                          <a:effectLst/>
                          <a:latin typeface="Times New Roman"/>
                          <a:cs typeface="Times New Roman"/>
                        </a:rPr>
                        <a:t>, category</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92585827"/>
                  </a:ext>
                </a:extLst>
              </a:tr>
              <a:tr h="0">
                <a:tc>
                  <a:txBody>
                    <a:bodyPr/>
                    <a:lstStyle/>
                    <a:p>
                      <a:pPr fontAlgn="t">
                        <a:buNone/>
                      </a:pPr>
                      <a:r>
                        <a:rPr lang="en-US" sz="2000">
                          <a:effectLst/>
                          <a:latin typeface="Times New Roman"/>
                          <a:cs typeface="Times New Roman"/>
                        </a:rPr>
                        <a:t>reviews_clean.csv</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a:effectLst/>
                          <a:latin typeface="Times New Roman"/>
                          <a:cs typeface="Times New Roman"/>
                        </a:rPr>
                        <a:t>140,082</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kern="1200">
                          <a:solidFill>
                            <a:schemeClr val="dk1"/>
                          </a:solidFill>
                          <a:effectLst/>
                          <a:latin typeface="Times New Roman"/>
                          <a:ea typeface="+mn-ea"/>
                          <a:cs typeface="Times New Roman"/>
                        </a:rPr>
                        <a:t>review score, positive/negative counts, Metacritic score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66850153"/>
                  </a:ext>
                </a:extLst>
              </a:tr>
              <a:tr h="0">
                <a:tc>
                  <a:txBody>
                    <a:bodyPr/>
                    <a:lstStyle/>
                    <a:p>
                      <a:pPr fontAlgn="t">
                        <a:buNone/>
                      </a:pPr>
                      <a:r>
                        <a:rPr lang="en-US" sz="2000">
                          <a:effectLst/>
                          <a:latin typeface="Times New Roman"/>
                          <a:cs typeface="Times New Roman"/>
                        </a:rPr>
                        <a:t>games_vgsales_matched.csv</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a:effectLst/>
                          <a:latin typeface="Times New Roman"/>
                          <a:cs typeface="Times New Roman"/>
                        </a:rPr>
                        <a:t>1,854</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buNone/>
                      </a:pPr>
                      <a:r>
                        <a:rPr lang="en-US" sz="2000">
                          <a:effectLst/>
                          <a:latin typeface="Times New Roman"/>
                          <a:cs typeface="Times New Roman"/>
                        </a:rPr>
                        <a:t>Steam metadata + VG sales columns</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60259448"/>
                  </a:ext>
                </a:extLst>
              </a:tr>
            </a:tbl>
          </a:graphicData>
        </a:graphic>
      </p:graphicFrame>
    </p:spTree>
    <p:extLst>
      <p:ext uri="{BB962C8B-B14F-4D97-AF65-F5344CB8AC3E}">
        <p14:creationId xmlns:p14="http://schemas.microsoft.com/office/powerpoint/2010/main" val="375089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Box 7">
            <a:extLst>
              <a:ext uri="{FF2B5EF4-FFF2-40B4-BE49-F238E27FC236}">
                <a16:creationId xmlns:a16="http://schemas.microsoft.com/office/drawing/2014/main" id="{37455704-2570-FC2B-39EA-4DC3C67A6273}"/>
              </a:ext>
            </a:extLst>
          </p:cNvPr>
          <p:cNvSpPr txBox="1"/>
          <p:nvPr/>
        </p:nvSpPr>
        <p:spPr>
          <a:xfrm>
            <a:off x="828675" y="494414"/>
            <a:ext cx="10534650" cy="817403"/>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3600" kern="1200">
                <a:latin typeface="Garamond"/>
                <a:ea typeface="+mj-ea"/>
                <a:cs typeface="+mj-cs"/>
              </a:rPr>
              <a:t>Hypothesis Testing with Monetization Models</a:t>
            </a:r>
          </a:p>
        </p:txBody>
      </p:sp>
      <p:pic>
        <p:nvPicPr>
          <p:cNvPr id="18" name="Content Placeholder 17" descr="A black text on a white background&#10;&#10;AI-generated content may be incorrect.">
            <a:extLst>
              <a:ext uri="{FF2B5EF4-FFF2-40B4-BE49-F238E27FC236}">
                <a16:creationId xmlns:a16="http://schemas.microsoft.com/office/drawing/2014/main" id="{CADC6559-A2B3-91B6-3009-A3D085F6D074}"/>
              </a:ext>
            </a:extLst>
          </p:cNvPr>
          <p:cNvPicPr>
            <a:picLocks noGrp="1" noChangeAspect="1"/>
          </p:cNvPicPr>
          <p:nvPr>
            <p:ph idx="1"/>
          </p:nvPr>
        </p:nvPicPr>
        <p:blipFill>
          <a:blip r:embed="rId2"/>
          <a:stretch>
            <a:fillRect/>
          </a:stretch>
        </p:blipFill>
        <p:spPr>
          <a:xfrm>
            <a:off x="713014" y="2578376"/>
            <a:ext cx="10744200" cy="1235582"/>
          </a:xfrm>
          <a:prstGeom prst="rect">
            <a:avLst/>
          </a:prstGeom>
        </p:spPr>
      </p:pic>
      <p:sp>
        <p:nvSpPr>
          <p:cNvPr id="23" name="TextBox 22">
            <a:extLst>
              <a:ext uri="{FF2B5EF4-FFF2-40B4-BE49-F238E27FC236}">
                <a16:creationId xmlns:a16="http://schemas.microsoft.com/office/drawing/2014/main" id="{3185754E-CEE0-C493-EE15-692D107701E1}"/>
              </a:ext>
            </a:extLst>
          </p:cNvPr>
          <p:cNvSpPr txBox="1"/>
          <p:nvPr/>
        </p:nvSpPr>
        <p:spPr>
          <a:xfrm>
            <a:off x="1999129" y="4043083"/>
            <a:ext cx="81713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Garamond"/>
              </a:rPr>
              <a:t>To answer this, we have built four distinct buckets to help us understand monetization.</a:t>
            </a:r>
          </a:p>
        </p:txBody>
      </p:sp>
      <p:pic>
        <p:nvPicPr>
          <p:cNvPr id="24" name="Picture 23">
            <a:extLst>
              <a:ext uri="{FF2B5EF4-FFF2-40B4-BE49-F238E27FC236}">
                <a16:creationId xmlns:a16="http://schemas.microsoft.com/office/drawing/2014/main" id="{1D03A64A-2293-B027-380E-95ED4A1D061D}"/>
              </a:ext>
            </a:extLst>
          </p:cNvPr>
          <p:cNvPicPr>
            <a:picLocks noChangeAspect="1"/>
          </p:cNvPicPr>
          <p:nvPr/>
        </p:nvPicPr>
        <p:blipFill>
          <a:blip r:embed="rId3"/>
          <a:stretch>
            <a:fillRect/>
          </a:stretch>
        </p:blipFill>
        <p:spPr>
          <a:xfrm>
            <a:off x="583188" y="4687181"/>
            <a:ext cx="10791904" cy="468885"/>
          </a:xfrm>
          <a:prstGeom prst="rect">
            <a:avLst/>
          </a:prstGeom>
        </p:spPr>
      </p:pic>
    </p:spTree>
    <p:extLst>
      <p:ext uri="{BB962C8B-B14F-4D97-AF65-F5344CB8AC3E}">
        <p14:creationId xmlns:p14="http://schemas.microsoft.com/office/powerpoint/2010/main" val="3197544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CEC57-92F7-2BAA-D881-743ED7F8CCD9}"/>
              </a:ext>
            </a:extLst>
          </p:cNvPr>
          <p:cNvSpPr>
            <a:spLocks noGrp="1"/>
          </p:cNvSpPr>
          <p:nvPr>
            <p:ph type="title"/>
          </p:nvPr>
        </p:nvSpPr>
        <p:spPr>
          <a:xfrm>
            <a:off x="876693" y="741391"/>
            <a:ext cx="3455821" cy="1616203"/>
          </a:xfrm>
        </p:spPr>
        <p:txBody>
          <a:bodyPr vert="horz" lIns="91440" tIns="45720" rIns="91440" bIns="45720" rtlCol="0" anchor="b">
            <a:normAutofit/>
          </a:bodyPr>
          <a:lstStyle/>
          <a:p>
            <a:r>
              <a:rPr lang="en-US" sz="3200" kern="1200">
                <a:latin typeface="Garamond"/>
              </a:rPr>
              <a:t>Loading the Data</a:t>
            </a:r>
          </a:p>
        </p:txBody>
      </p:sp>
      <p:pic>
        <p:nvPicPr>
          <p:cNvPr id="10" name="Content Placeholder 9" descr="A screenshot of a computer program&#10;&#10;AI-generated content may be incorrect.">
            <a:extLst>
              <a:ext uri="{FF2B5EF4-FFF2-40B4-BE49-F238E27FC236}">
                <a16:creationId xmlns:a16="http://schemas.microsoft.com/office/drawing/2014/main" id="{01AFD757-4B44-5E4B-69CB-0D09B3E4351C}"/>
              </a:ext>
            </a:extLst>
          </p:cNvPr>
          <p:cNvPicPr>
            <a:picLocks noGrp="1" noChangeAspect="1"/>
          </p:cNvPicPr>
          <p:nvPr>
            <p:ph idx="1"/>
          </p:nvPr>
        </p:nvPicPr>
        <p:blipFill>
          <a:blip r:embed="rId2"/>
          <a:stretch>
            <a:fillRect/>
          </a:stretch>
        </p:blipFill>
        <p:spPr>
          <a:xfrm>
            <a:off x="4987672" y="1109530"/>
            <a:ext cx="6389346" cy="4648249"/>
          </a:xfrm>
          <a:prstGeom prst="rect">
            <a:avLst/>
          </a:prstGeom>
        </p:spPr>
      </p:pic>
      <p:grpSp>
        <p:nvGrpSpPr>
          <p:cNvPr id="16" name="Group 15">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7" name="Rectangle 16">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90E56913-E39A-1A5B-0876-523817E672D5}"/>
              </a:ext>
            </a:extLst>
          </p:cNvPr>
          <p:cNvSpPr txBox="1"/>
          <p:nvPr/>
        </p:nvSpPr>
        <p:spPr>
          <a:xfrm>
            <a:off x="602876" y="2637864"/>
            <a:ext cx="345813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Garamond"/>
              </a:rPr>
              <a:t>Must define what F2P truly means</a:t>
            </a:r>
          </a:p>
          <a:p>
            <a:endParaRPr lang="en-US">
              <a:latin typeface="Garamond"/>
            </a:endParaRPr>
          </a:p>
          <a:p>
            <a:pPr marL="742950" lvl="1" indent="-285750">
              <a:buFont typeface="Courier New"/>
              <a:buChar char="o"/>
            </a:pPr>
            <a:r>
              <a:rPr lang="en-US">
                <a:latin typeface="Garamond"/>
              </a:rPr>
              <a:t> To do this, we must rely on a few columns across multiple tables </a:t>
            </a:r>
          </a:p>
          <a:p>
            <a:endParaRPr lang="en-US">
              <a:latin typeface="Garamond"/>
            </a:endParaRPr>
          </a:p>
          <a:p>
            <a:pPr marL="742950" lvl="1" indent="-285750">
              <a:buFont typeface="Courier New"/>
              <a:buChar char="o"/>
            </a:pPr>
            <a:r>
              <a:rPr lang="en-US">
                <a:latin typeface="Garamond"/>
              </a:rPr>
              <a:t>Grabbed "</a:t>
            </a:r>
            <a:r>
              <a:rPr lang="en-US" err="1">
                <a:latin typeface="Garamond"/>
              </a:rPr>
              <a:t>is_free</a:t>
            </a:r>
            <a:r>
              <a:rPr lang="en-US">
                <a:latin typeface="Garamond"/>
              </a:rPr>
              <a:t>" from games table, "Free to Play" from tags and genre tables</a:t>
            </a:r>
          </a:p>
          <a:p>
            <a:pPr marL="285750" indent="-285750">
              <a:buFont typeface="Arial"/>
              <a:buChar char="•"/>
            </a:pPr>
            <a:endParaRPr lang="en-US">
              <a:latin typeface="Garamond"/>
            </a:endParaRPr>
          </a:p>
        </p:txBody>
      </p:sp>
    </p:spTree>
    <p:extLst>
      <p:ext uri="{BB962C8B-B14F-4D97-AF65-F5344CB8AC3E}">
        <p14:creationId xmlns:p14="http://schemas.microsoft.com/office/powerpoint/2010/main" val="212381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610D-5E29-EF77-75EF-74377E36EB8D}"/>
              </a:ext>
            </a:extLst>
          </p:cNvPr>
          <p:cNvSpPr>
            <a:spLocks noGrp="1"/>
          </p:cNvSpPr>
          <p:nvPr>
            <p:ph type="title"/>
          </p:nvPr>
        </p:nvSpPr>
        <p:spPr/>
        <p:txBody>
          <a:bodyPr/>
          <a:lstStyle/>
          <a:p>
            <a:r>
              <a:rPr lang="en-US">
                <a:latin typeface="Garamond"/>
              </a:rPr>
              <a:t>Output Explanation</a:t>
            </a:r>
          </a:p>
        </p:txBody>
      </p:sp>
      <p:pic>
        <p:nvPicPr>
          <p:cNvPr id="4" name="Content Placeholder 3" descr="A screenshot of a computer&#10;&#10;AI-generated content may be incorrect.">
            <a:extLst>
              <a:ext uri="{FF2B5EF4-FFF2-40B4-BE49-F238E27FC236}">
                <a16:creationId xmlns:a16="http://schemas.microsoft.com/office/drawing/2014/main" id="{65C08BF0-0ECB-B503-3566-8D99ED1AAA2E}"/>
              </a:ext>
            </a:extLst>
          </p:cNvPr>
          <p:cNvPicPr>
            <a:picLocks noGrp="1" noChangeAspect="1"/>
          </p:cNvPicPr>
          <p:nvPr>
            <p:ph idx="1"/>
          </p:nvPr>
        </p:nvPicPr>
        <p:blipFill>
          <a:blip r:embed="rId2"/>
          <a:stretch>
            <a:fillRect/>
          </a:stretch>
        </p:blipFill>
        <p:spPr>
          <a:xfrm>
            <a:off x="3142569" y="1935048"/>
            <a:ext cx="5906860" cy="3588203"/>
          </a:xfrm>
          <a:prstGeom prst="rect">
            <a:avLst/>
          </a:prstGeom>
        </p:spPr>
      </p:pic>
    </p:spTree>
    <p:extLst>
      <p:ext uri="{BB962C8B-B14F-4D97-AF65-F5344CB8AC3E}">
        <p14:creationId xmlns:p14="http://schemas.microsoft.com/office/powerpoint/2010/main" val="2729867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015C079-8EB7-2C80-3DA2-FD3247358B03}"/>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latin typeface="Garamond"/>
              </a:rPr>
              <a:t>Descriptive Statistics</a:t>
            </a:r>
          </a:p>
        </p:txBody>
      </p:sp>
      <p:pic>
        <p:nvPicPr>
          <p:cNvPr id="7" name="Content Placeholder 6" descr="A screenshot of a computer&#10;&#10;AI-generated content may be incorrect.">
            <a:extLst>
              <a:ext uri="{FF2B5EF4-FFF2-40B4-BE49-F238E27FC236}">
                <a16:creationId xmlns:a16="http://schemas.microsoft.com/office/drawing/2014/main" id="{F6EF1F44-DD36-D794-07F9-91FE30743F99}"/>
              </a:ext>
            </a:extLst>
          </p:cNvPr>
          <p:cNvPicPr>
            <a:picLocks noGrp="1" noChangeAspect="1"/>
          </p:cNvPicPr>
          <p:nvPr>
            <p:ph idx="1"/>
          </p:nvPr>
        </p:nvPicPr>
        <p:blipFill>
          <a:blip r:embed="rId2"/>
          <a:stretch>
            <a:fillRect/>
          </a:stretch>
        </p:blipFill>
        <p:spPr>
          <a:xfrm>
            <a:off x="1002483" y="2354239"/>
            <a:ext cx="10187034" cy="3948085"/>
          </a:xfrm>
          <a:prstGeom prst="rect">
            <a:avLst/>
          </a:prstGeom>
        </p:spPr>
      </p:pic>
    </p:spTree>
    <p:extLst>
      <p:ext uri="{BB962C8B-B14F-4D97-AF65-F5344CB8AC3E}">
        <p14:creationId xmlns:p14="http://schemas.microsoft.com/office/powerpoint/2010/main" val="3025568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7008-0998-CD90-F855-CABBBFDFE05F}"/>
              </a:ext>
            </a:extLst>
          </p:cNvPr>
          <p:cNvSpPr>
            <a:spLocks noGrp="1"/>
          </p:cNvSpPr>
          <p:nvPr>
            <p:ph type="title"/>
          </p:nvPr>
        </p:nvSpPr>
        <p:spPr/>
        <p:txBody>
          <a:bodyPr/>
          <a:lstStyle/>
          <a:p>
            <a:r>
              <a:rPr lang="en-US">
                <a:latin typeface="Garamond"/>
              </a:rPr>
              <a:t>Primary Hypothesis Test</a:t>
            </a:r>
          </a:p>
        </p:txBody>
      </p:sp>
      <p:pic>
        <p:nvPicPr>
          <p:cNvPr id="4" name="Content Placeholder 3" descr="A white background with black text&#10;&#10;AI-generated content may be incorrect.">
            <a:extLst>
              <a:ext uri="{FF2B5EF4-FFF2-40B4-BE49-F238E27FC236}">
                <a16:creationId xmlns:a16="http://schemas.microsoft.com/office/drawing/2014/main" id="{B9096F39-D472-D7B6-5B95-9A2A62AD6AE0}"/>
              </a:ext>
            </a:extLst>
          </p:cNvPr>
          <p:cNvPicPr>
            <a:picLocks noGrp="1" noChangeAspect="1"/>
          </p:cNvPicPr>
          <p:nvPr>
            <p:ph idx="1"/>
          </p:nvPr>
        </p:nvPicPr>
        <p:blipFill>
          <a:blip r:embed="rId2"/>
          <a:stretch>
            <a:fillRect/>
          </a:stretch>
        </p:blipFill>
        <p:spPr>
          <a:xfrm>
            <a:off x="838880" y="5444091"/>
            <a:ext cx="9991725" cy="1323975"/>
          </a:xfrm>
          <a:prstGeom prst="rect">
            <a:avLst/>
          </a:prstGeom>
        </p:spPr>
      </p:pic>
      <p:pic>
        <p:nvPicPr>
          <p:cNvPr id="6" name="Picture 5" descr="A close up of a text&#10;&#10;AI-generated content may be incorrect.">
            <a:extLst>
              <a:ext uri="{FF2B5EF4-FFF2-40B4-BE49-F238E27FC236}">
                <a16:creationId xmlns:a16="http://schemas.microsoft.com/office/drawing/2014/main" id="{3B76283A-29B4-D69E-D2BE-CD4C4D63698A}"/>
              </a:ext>
            </a:extLst>
          </p:cNvPr>
          <p:cNvPicPr>
            <a:picLocks noChangeAspect="1"/>
          </p:cNvPicPr>
          <p:nvPr/>
        </p:nvPicPr>
        <p:blipFill>
          <a:blip r:embed="rId3"/>
          <a:stretch>
            <a:fillRect/>
          </a:stretch>
        </p:blipFill>
        <p:spPr>
          <a:xfrm>
            <a:off x="757519" y="1394701"/>
            <a:ext cx="10668000" cy="1084632"/>
          </a:xfrm>
          <a:prstGeom prst="rect">
            <a:avLst/>
          </a:prstGeom>
        </p:spPr>
      </p:pic>
      <p:pic>
        <p:nvPicPr>
          <p:cNvPr id="8" name="Picture 7" descr="A screenshot of a computer code&#10;&#10;AI-generated content may be incorrect.">
            <a:extLst>
              <a:ext uri="{FF2B5EF4-FFF2-40B4-BE49-F238E27FC236}">
                <a16:creationId xmlns:a16="http://schemas.microsoft.com/office/drawing/2014/main" id="{33D148F5-6F8F-373B-8858-C092BBDCAEF8}"/>
              </a:ext>
            </a:extLst>
          </p:cNvPr>
          <p:cNvPicPr>
            <a:picLocks noChangeAspect="1"/>
          </p:cNvPicPr>
          <p:nvPr/>
        </p:nvPicPr>
        <p:blipFill>
          <a:blip r:embed="rId4"/>
          <a:stretch>
            <a:fillRect/>
          </a:stretch>
        </p:blipFill>
        <p:spPr>
          <a:xfrm>
            <a:off x="837079" y="2481541"/>
            <a:ext cx="10661277" cy="2979645"/>
          </a:xfrm>
          <a:prstGeom prst="rect">
            <a:avLst/>
          </a:prstGeom>
        </p:spPr>
      </p:pic>
    </p:spTree>
    <p:extLst>
      <p:ext uri="{BB962C8B-B14F-4D97-AF65-F5344CB8AC3E}">
        <p14:creationId xmlns:p14="http://schemas.microsoft.com/office/powerpoint/2010/main" val="1710905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303C-051C-09C0-0EBC-617CDAC1C5A1}"/>
              </a:ext>
            </a:extLst>
          </p:cNvPr>
          <p:cNvSpPr>
            <a:spLocks noGrp="1"/>
          </p:cNvSpPr>
          <p:nvPr>
            <p:ph type="title"/>
          </p:nvPr>
        </p:nvSpPr>
        <p:spPr/>
        <p:txBody>
          <a:bodyPr/>
          <a:lstStyle/>
          <a:p>
            <a:r>
              <a:rPr lang="en-US">
                <a:latin typeface="Garamond"/>
              </a:rPr>
              <a:t>Genre Share Amongst Top Sellers (</a:t>
            </a:r>
            <a:r>
              <a:rPr lang="en-US" err="1">
                <a:latin typeface="Garamond"/>
              </a:rPr>
              <a:t>vgChartz</a:t>
            </a:r>
            <a:r>
              <a:rPr lang="en-US">
                <a:latin typeface="Garamond"/>
              </a:rPr>
              <a:t>)</a:t>
            </a:r>
          </a:p>
        </p:txBody>
      </p:sp>
      <p:pic>
        <p:nvPicPr>
          <p:cNvPr id="4" name="Content Placeholder 3">
            <a:extLst>
              <a:ext uri="{FF2B5EF4-FFF2-40B4-BE49-F238E27FC236}">
                <a16:creationId xmlns:a16="http://schemas.microsoft.com/office/drawing/2014/main" id="{1A81BC64-C217-E2E2-9BE1-BF1B71E88981}"/>
              </a:ext>
            </a:extLst>
          </p:cNvPr>
          <p:cNvPicPr>
            <a:picLocks noGrp="1" noChangeAspect="1"/>
          </p:cNvPicPr>
          <p:nvPr>
            <p:ph idx="1"/>
          </p:nvPr>
        </p:nvPicPr>
        <p:blipFill>
          <a:blip r:embed="rId2"/>
          <a:stretch>
            <a:fillRect/>
          </a:stretch>
        </p:blipFill>
        <p:spPr>
          <a:xfrm>
            <a:off x="1948867" y="1907560"/>
            <a:ext cx="8294265" cy="4351338"/>
          </a:xfrm>
          <a:prstGeom prst="rect">
            <a:avLst/>
          </a:prstGeom>
        </p:spPr>
      </p:pic>
    </p:spTree>
    <p:extLst>
      <p:ext uri="{BB962C8B-B14F-4D97-AF65-F5344CB8AC3E}">
        <p14:creationId xmlns:p14="http://schemas.microsoft.com/office/powerpoint/2010/main" val="572350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6D86-010D-6A70-4148-F09025B6D975}"/>
              </a:ext>
            </a:extLst>
          </p:cNvPr>
          <p:cNvSpPr>
            <a:spLocks noGrp="1"/>
          </p:cNvSpPr>
          <p:nvPr>
            <p:ph type="title"/>
          </p:nvPr>
        </p:nvSpPr>
        <p:spPr/>
        <p:txBody>
          <a:bodyPr>
            <a:normAutofit/>
          </a:bodyPr>
          <a:lstStyle/>
          <a:p>
            <a:r>
              <a:rPr lang="en-US">
                <a:solidFill>
                  <a:srgbClr val="1F2328"/>
                </a:solidFill>
                <a:highlight>
                  <a:srgbClr val="FFFFFF"/>
                </a:highlight>
                <a:latin typeface="Times New Roman"/>
                <a:ea typeface="+mj-lt"/>
                <a:cs typeface="Times New Roman"/>
              </a:rPr>
              <a:t>Critic vs Player</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8B0F7ECF-E823-81EB-B4E4-06EBF157B814}"/>
              </a:ext>
            </a:extLst>
          </p:cNvPr>
          <p:cNvSpPr>
            <a:spLocks noGrp="1"/>
          </p:cNvSpPr>
          <p:nvPr>
            <p:ph idx="1"/>
          </p:nvPr>
        </p:nvSpPr>
        <p:spPr>
          <a:xfrm>
            <a:off x="819461" y="1838117"/>
            <a:ext cx="10709225" cy="4351338"/>
          </a:xfrm>
        </p:spPr>
        <p:txBody>
          <a:bodyPr vert="horz" lIns="91440" tIns="45720" rIns="91440" bIns="45720" rtlCol="0" anchor="t">
            <a:normAutofit/>
          </a:bodyPr>
          <a:lstStyle/>
          <a:p>
            <a:pPr marL="0" indent="0">
              <a:buNone/>
            </a:pPr>
            <a:endParaRPr lang="en-US">
              <a:latin typeface="Times New Roman"/>
              <a:ea typeface="+mn-lt"/>
              <a:cs typeface="Times New Roman"/>
            </a:endParaRPr>
          </a:p>
          <a:p>
            <a:pPr marL="0" indent="0">
              <a:buNone/>
            </a:pPr>
            <a:endParaRPr lang="en-US">
              <a:latin typeface="Times New Roman"/>
              <a:ea typeface="+mn-lt"/>
              <a:cs typeface="Times New Roman"/>
            </a:endParaRPr>
          </a:p>
          <a:p>
            <a:pPr marL="0" indent="0" algn="ctr">
              <a:buNone/>
            </a:pPr>
            <a:r>
              <a:rPr lang="en-US">
                <a:latin typeface="Times New Roman"/>
                <a:ea typeface="+mn-lt"/>
                <a:cs typeface="Times New Roman"/>
              </a:rPr>
              <a:t>Where do Steam player ratings and critic ratings systematically disagree — across titles, genres, publishers, price tiers, and years?</a:t>
            </a:r>
            <a:endParaRPr lang="en-US">
              <a:latin typeface="Times New Roman"/>
              <a:cs typeface="Times New Roman"/>
            </a:endParaRPr>
          </a:p>
        </p:txBody>
      </p:sp>
    </p:spTree>
    <p:extLst>
      <p:ext uri="{BB962C8B-B14F-4D97-AF65-F5344CB8AC3E}">
        <p14:creationId xmlns:p14="http://schemas.microsoft.com/office/powerpoint/2010/main" val="1709483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594513E-AF70-F240-1327-4EA070255A38}"/>
              </a:ext>
            </a:extLst>
          </p:cNvPr>
          <p:cNvPicPr>
            <a:picLocks noGrp="1" noChangeAspect="1"/>
          </p:cNvPicPr>
          <p:nvPr>
            <p:ph idx="1"/>
          </p:nvPr>
        </p:nvPicPr>
        <p:blipFill>
          <a:blip r:embed="rId3"/>
          <a:stretch>
            <a:fillRect/>
          </a:stretch>
        </p:blipFill>
        <p:spPr>
          <a:xfrm>
            <a:off x="844153" y="1695559"/>
            <a:ext cx="10515600" cy="2540046"/>
          </a:xfrm>
          <a:prstGeom prst="rect">
            <a:avLst/>
          </a:prstGeom>
        </p:spPr>
      </p:pic>
      <p:sp>
        <p:nvSpPr>
          <p:cNvPr id="6" name="TextBox 5">
            <a:extLst>
              <a:ext uri="{FF2B5EF4-FFF2-40B4-BE49-F238E27FC236}">
                <a16:creationId xmlns:a16="http://schemas.microsoft.com/office/drawing/2014/main" id="{926800A3-FC6D-4E0E-7505-30E6B794D179}"/>
              </a:ext>
            </a:extLst>
          </p:cNvPr>
          <p:cNvSpPr txBox="1"/>
          <p:nvPr/>
        </p:nvSpPr>
        <p:spPr>
          <a:xfrm>
            <a:off x="839919" y="4641294"/>
            <a:ext cx="1051591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mn-lt"/>
                <a:cs typeface="Times New Roman"/>
              </a:rPr>
              <a:t>The Metacritic score distribution is slightly left-skewed but overall bell-shaped.</a:t>
            </a:r>
            <a:endParaRPr lang="ja-JP" altLang="en-US">
              <a:latin typeface="Times New Roman"/>
              <a:cs typeface="Times New Roman"/>
            </a:endParaRPr>
          </a:p>
          <a:p>
            <a:pPr marL="285750" indent="-285750">
              <a:buFont typeface="Arial"/>
              <a:buChar char="•"/>
            </a:pPr>
            <a:r>
              <a:rPr lang="en-US">
                <a:latin typeface="Times New Roman"/>
                <a:ea typeface="+mn-lt"/>
                <a:cs typeface="Times New Roman"/>
              </a:rPr>
              <a:t>The player ratings distribution is strongly left-skewed, meaning that players are likely to rate high.</a:t>
            </a:r>
          </a:p>
          <a:p>
            <a:pPr marL="285750" indent="-285750">
              <a:buFont typeface="Arial"/>
              <a:buChar char="•"/>
            </a:pPr>
            <a:r>
              <a:rPr lang="en-US">
                <a:latin typeface="Times New Roman"/>
                <a:ea typeface="+mn-lt"/>
                <a:cs typeface="Times New Roman"/>
              </a:rPr>
              <a:t>The divergence ratio, defined as player score minus critic score, is centered slightly above zero. This suggests that player evaluations are generally  higher than critic evaluations. </a:t>
            </a:r>
            <a:endParaRPr lang="en-US">
              <a:latin typeface="Times New Roman"/>
              <a:cs typeface="Times New Roman"/>
            </a:endParaRPr>
          </a:p>
        </p:txBody>
      </p:sp>
      <p:sp>
        <p:nvSpPr>
          <p:cNvPr id="3" name="Title 1">
            <a:extLst>
              <a:ext uri="{FF2B5EF4-FFF2-40B4-BE49-F238E27FC236}">
                <a16:creationId xmlns:a16="http://schemas.microsoft.com/office/drawing/2014/main" id="{DA687D05-C80F-17AA-F1E1-52223E943FCC}"/>
              </a:ext>
            </a:extLst>
          </p:cNvPr>
          <p:cNvSpPr>
            <a:spLocks noGrp="1"/>
          </p:cNvSpPr>
          <p:nvPr>
            <p:ph type="title"/>
          </p:nvPr>
        </p:nvSpPr>
        <p:spPr>
          <a:xfrm>
            <a:off x="838200" y="365125"/>
            <a:ext cx="10515600" cy="1325563"/>
          </a:xfrm>
        </p:spPr>
        <p:txBody>
          <a:bodyPr/>
          <a:lstStyle/>
          <a:p>
            <a:r>
              <a:rPr lang="en-US" altLang="ja-JP" sz="4000">
                <a:latin typeface="Times New Roman"/>
                <a:ea typeface="ＭＳ Ｐゴシック"/>
                <a:cs typeface="Times New Roman"/>
              </a:rPr>
              <a:t>Rating Distribution</a:t>
            </a:r>
          </a:p>
        </p:txBody>
      </p:sp>
    </p:spTree>
    <p:extLst>
      <p:ext uri="{BB962C8B-B14F-4D97-AF65-F5344CB8AC3E}">
        <p14:creationId xmlns:p14="http://schemas.microsoft.com/office/powerpoint/2010/main" val="1630814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2305C0B-C1D1-1347-CDE2-B073D9D2AF41}"/>
              </a:ext>
            </a:extLst>
          </p:cNvPr>
          <p:cNvPicPr>
            <a:picLocks noGrp="1" noChangeAspect="1"/>
          </p:cNvPicPr>
          <p:nvPr>
            <p:ph idx="1"/>
          </p:nvPr>
        </p:nvPicPr>
        <p:blipFill>
          <a:blip r:embed="rId2"/>
          <a:stretch>
            <a:fillRect/>
          </a:stretch>
        </p:blipFill>
        <p:spPr>
          <a:xfrm>
            <a:off x="-382" y="585674"/>
            <a:ext cx="7206644" cy="5684837"/>
          </a:xfrm>
          <a:prstGeom prst="rect">
            <a:avLst/>
          </a:prstGeom>
        </p:spPr>
      </p:pic>
      <p:sp>
        <p:nvSpPr>
          <p:cNvPr id="6" name="Title 1">
            <a:extLst>
              <a:ext uri="{FF2B5EF4-FFF2-40B4-BE49-F238E27FC236}">
                <a16:creationId xmlns:a16="http://schemas.microsoft.com/office/drawing/2014/main" id="{A06E6C26-C22F-285D-C002-5769AA7F15BA}"/>
              </a:ext>
            </a:extLst>
          </p:cNvPr>
          <p:cNvSpPr txBox="1">
            <a:spLocks/>
          </p:cNvSpPr>
          <p:nvPr/>
        </p:nvSpPr>
        <p:spPr>
          <a:xfrm>
            <a:off x="6773536" y="1059260"/>
            <a:ext cx="5420494" cy="112637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latin typeface="Times New Roman"/>
                <a:ea typeface="+mj-lt"/>
                <a:cs typeface="Times New Roman"/>
              </a:rPr>
              <a:t>Metacritic Score vs Player Positivity Ratio</a:t>
            </a:r>
            <a:endParaRPr lang="en-US" sz="2400">
              <a:latin typeface="Times New Roman"/>
              <a:cs typeface="Times New Roman"/>
            </a:endParaRPr>
          </a:p>
        </p:txBody>
      </p:sp>
      <p:sp>
        <p:nvSpPr>
          <p:cNvPr id="3" name="TextBox 2">
            <a:extLst>
              <a:ext uri="{FF2B5EF4-FFF2-40B4-BE49-F238E27FC236}">
                <a16:creationId xmlns:a16="http://schemas.microsoft.com/office/drawing/2014/main" id="{68821C19-5F83-14CA-8025-A932A7A10ED6}"/>
              </a:ext>
            </a:extLst>
          </p:cNvPr>
          <p:cNvSpPr txBox="1"/>
          <p:nvPr/>
        </p:nvSpPr>
        <p:spPr>
          <a:xfrm>
            <a:off x="7090801" y="2183677"/>
            <a:ext cx="478491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a:highlight>
                  <a:srgbClr val="FFFFFF"/>
                </a:highlight>
                <a:latin typeface="Times New Roman"/>
                <a:cs typeface="Times New Roman"/>
              </a:rPr>
              <a:t>The dashed diagonal line represents perfect agreement between critic and player scores.</a:t>
            </a:r>
            <a:endParaRPr lang="en-US"/>
          </a:p>
          <a:p>
            <a:pPr marL="285750" indent="-285750" algn="ctr">
              <a:buFont typeface="Arial"/>
              <a:buChar char="•"/>
            </a:pPr>
            <a:endParaRPr lang="en-US">
              <a:highlight>
                <a:srgbClr val="FFFFFF"/>
              </a:highlight>
              <a:latin typeface="Times New Roman"/>
              <a:cs typeface="Times New Roman"/>
            </a:endParaRPr>
          </a:p>
          <a:p>
            <a:pPr marL="285750" indent="-285750" algn="ctr">
              <a:buFont typeface="Arial"/>
              <a:buChar char="•"/>
            </a:pPr>
            <a:r>
              <a:rPr lang="en-US">
                <a:highlight>
                  <a:srgbClr val="FFFFFF"/>
                </a:highlight>
                <a:latin typeface="Times New Roman"/>
                <a:cs typeface="Times New Roman"/>
              </a:rPr>
              <a:t>The red binned-mean line tracks player ratings and supports our earlier histogram finding that players are generally more positive than critics.</a:t>
            </a:r>
          </a:p>
          <a:p>
            <a:pPr marL="285750" indent="-285750" algn="ctr">
              <a:buFont typeface="Arial"/>
              <a:buChar char="•"/>
            </a:pPr>
            <a:endParaRPr lang="en-US">
              <a:highlight>
                <a:srgbClr val="FFFFFF"/>
              </a:highlight>
              <a:latin typeface="Times New Roman"/>
              <a:cs typeface="Times New Roman"/>
            </a:endParaRPr>
          </a:p>
          <a:p>
            <a:pPr marL="285750" indent="-285750" algn="ctr">
              <a:buFont typeface="Arial"/>
              <a:buChar char="•"/>
            </a:pPr>
            <a:r>
              <a:rPr lang="en-US">
                <a:highlight>
                  <a:srgbClr val="FFFFFF"/>
                </a:highlight>
                <a:latin typeface="Times New Roman"/>
                <a:cs typeface="Times New Roman"/>
              </a:rPr>
              <a:t>The line dips around a critic score of 90, possibly because highly acclaimed games attract more public attention and therefore more scrutiny or backlash. </a:t>
            </a:r>
            <a:endParaRPr lang="en-US">
              <a:latin typeface="Times New Roman"/>
              <a:cs typeface="Times New Roman"/>
            </a:endParaRPr>
          </a:p>
          <a:p>
            <a:pPr marL="285750" indent="-285750">
              <a:buFont typeface="Arial"/>
              <a:buChar char="•"/>
            </a:pPr>
            <a:endParaRPr lang="en-US"/>
          </a:p>
        </p:txBody>
      </p:sp>
    </p:spTree>
    <p:extLst>
      <p:ext uri="{BB962C8B-B14F-4D97-AF65-F5344CB8AC3E}">
        <p14:creationId xmlns:p14="http://schemas.microsoft.com/office/powerpoint/2010/main" val="2473988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9472DC-0115-8A83-087D-582B948F6C55}"/>
              </a:ext>
            </a:extLst>
          </p:cNvPr>
          <p:cNvPicPr>
            <a:picLocks noChangeAspect="1"/>
          </p:cNvPicPr>
          <p:nvPr/>
        </p:nvPicPr>
        <p:blipFill>
          <a:blip r:embed="rId2"/>
          <a:stretch>
            <a:fillRect/>
          </a:stretch>
        </p:blipFill>
        <p:spPr>
          <a:xfrm>
            <a:off x="4745451" y="684609"/>
            <a:ext cx="7445740" cy="5494734"/>
          </a:xfrm>
          <a:prstGeom prst="rect">
            <a:avLst/>
          </a:prstGeom>
        </p:spPr>
      </p:pic>
      <p:pic>
        <p:nvPicPr>
          <p:cNvPr id="10" name="Picture 9">
            <a:extLst>
              <a:ext uri="{FF2B5EF4-FFF2-40B4-BE49-F238E27FC236}">
                <a16:creationId xmlns:a16="http://schemas.microsoft.com/office/drawing/2014/main" id="{8F0FDC4B-2CBF-4D0E-FB26-25E368FF2CE5}"/>
              </a:ext>
            </a:extLst>
          </p:cNvPr>
          <p:cNvPicPr>
            <a:picLocks noChangeAspect="1"/>
          </p:cNvPicPr>
          <p:nvPr/>
        </p:nvPicPr>
        <p:blipFill>
          <a:blip r:embed="rId3"/>
          <a:srcRect l="9160" b="-341"/>
          <a:stretch>
            <a:fillRect/>
          </a:stretch>
        </p:blipFill>
        <p:spPr>
          <a:xfrm>
            <a:off x="988220" y="3913584"/>
            <a:ext cx="2833688" cy="1751416"/>
          </a:xfrm>
          <a:prstGeom prst="rect">
            <a:avLst/>
          </a:prstGeom>
        </p:spPr>
      </p:pic>
      <p:pic>
        <p:nvPicPr>
          <p:cNvPr id="13" name="Content Placeholder 12">
            <a:extLst>
              <a:ext uri="{FF2B5EF4-FFF2-40B4-BE49-F238E27FC236}">
                <a16:creationId xmlns:a16="http://schemas.microsoft.com/office/drawing/2014/main" id="{56F2F5E2-F798-DB98-493E-CB6412A0CD35}"/>
              </a:ext>
            </a:extLst>
          </p:cNvPr>
          <p:cNvPicPr>
            <a:picLocks noGrp="1" noChangeAspect="1"/>
          </p:cNvPicPr>
          <p:nvPr>
            <p:ph idx="1"/>
          </p:nvPr>
        </p:nvPicPr>
        <p:blipFill>
          <a:blip r:embed="rId4"/>
          <a:stretch>
            <a:fillRect/>
          </a:stretch>
        </p:blipFill>
        <p:spPr>
          <a:xfrm>
            <a:off x="178885" y="1589177"/>
            <a:ext cx="4458662" cy="1542010"/>
          </a:xfrm>
          <a:prstGeom prst="rect">
            <a:avLst/>
          </a:prstGeom>
        </p:spPr>
      </p:pic>
      <p:sp>
        <p:nvSpPr>
          <p:cNvPr id="14" name="TextBox 13">
            <a:extLst>
              <a:ext uri="{FF2B5EF4-FFF2-40B4-BE49-F238E27FC236}">
                <a16:creationId xmlns:a16="http://schemas.microsoft.com/office/drawing/2014/main" id="{5F0C3C1D-FBEE-7639-786B-B9AA073E626C}"/>
              </a:ext>
            </a:extLst>
          </p:cNvPr>
          <p:cNvSpPr txBox="1"/>
          <p:nvPr/>
        </p:nvSpPr>
        <p:spPr>
          <a:xfrm>
            <a:off x="178594" y="684609"/>
            <a:ext cx="444103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highlight>
                  <a:srgbClr val="FFFFFF"/>
                </a:highlight>
                <a:latin typeface="Times New Roman"/>
                <a:cs typeface="Times New Roman"/>
              </a:rPr>
              <a:t>Four-Quadrant Split</a:t>
            </a:r>
            <a:endParaRPr lang="en-US" sz="4000">
              <a:latin typeface="Times New Roman"/>
              <a:cs typeface="Times New Roman"/>
            </a:endParaRPr>
          </a:p>
        </p:txBody>
      </p:sp>
      <p:sp>
        <p:nvSpPr>
          <p:cNvPr id="15" name="TextBox 14">
            <a:extLst>
              <a:ext uri="{FF2B5EF4-FFF2-40B4-BE49-F238E27FC236}">
                <a16:creationId xmlns:a16="http://schemas.microsoft.com/office/drawing/2014/main" id="{2C804525-9CF2-EC7C-1B4F-1EEC6836A0B8}"/>
              </a:ext>
            </a:extLst>
          </p:cNvPr>
          <p:cNvSpPr txBox="1"/>
          <p:nvPr/>
        </p:nvSpPr>
        <p:spPr>
          <a:xfrm>
            <a:off x="517922" y="3428999"/>
            <a:ext cx="37802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Game Distribution in Each Quadrant</a:t>
            </a:r>
          </a:p>
        </p:txBody>
      </p:sp>
    </p:spTree>
    <p:extLst>
      <p:ext uri="{BB962C8B-B14F-4D97-AF65-F5344CB8AC3E}">
        <p14:creationId xmlns:p14="http://schemas.microsoft.com/office/powerpoint/2010/main" val="3030721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DDE4B-9DE4-8A09-63B3-79E76E4CDC0D}"/>
              </a:ext>
            </a:extLst>
          </p:cNvPr>
          <p:cNvSpPr>
            <a:spLocks noGrp="1"/>
          </p:cNvSpPr>
          <p:nvPr>
            <p:ph type="title"/>
          </p:nvPr>
        </p:nvSpPr>
        <p:spPr>
          <a:xfrm>
            <a:off x="272653" y="820284"/>
            <a:ext cx="3460634" cy="577338"/>
          </a:xfrm>
        </p:spPr>
        <p:txBody>
          <a:bodyPr vert="horz" lIns="91440" tIns="45720" rIns="91440" bIns="45720" rtlCol="0" anchor="ctr">
            <a:noAutofit/>
          </a:bodyPr>
          <a:lstStyle/>
          <a:p>
            <a:r>
              <a:rPr lang="en-US" sz="2400">
                <a:highlight>
                  <a:srgbClr val="FFFFFF"/>
                </a:highlight>
                <a:latin typeface="Times New Roman"/>
                <a:cs typeface="Times New Roman"/>
              </a:rPr>
              <a:t>Slice by Category &amp; Tag</a:t>
            </a:r>
            <a:endParaRPr lang="en-US" sz="2400">
              <a:latin typeface="Times New Roman"/>
              <a:cs typeface="Times New Roman"/>
            </a:endParaRPr>
          </a:p>
          <a:p>
            <a:endParaRPr lang="en-US" sz="1800">
              <a:highlight>
                <a:srgbClr val="FFFFFF"/>
              </a:highlight>
            </a:endParaRPr>
          </a:p>
        </p:txBody>
      </p:sp>
      <p:pic>
        <p:nvPicPr>
          <p:cNvPr id="4" name="Content Placeholder 3">
            <a:extLst>
              <a:ext uri="{FF2B5EF4-FFF2-40B4-BE49-F238E27FC236}">
                <a16:creationId xmlns:a16="http://schemas.microsoft.com/office/drawing/2014/main" id="{C83394BC-8114-ACF1-829B-C8B6F97BE3EE}"/>
              </a:ext>
            </a:extLst>
          </p:cNvPr>
          <p:cNvPicPr>
            <a:picLocks noGrp="1" noChangeAspect="1"/>
          </p:cNvPicPr>
          <p:nvPr>
            <p:ph idx="1"/>
          </p:nvPr>
        </p:nvPicPr>
        <p:blipFill>
          <a:blip r:embed="rId2"/>
          <a:stretch>
            <a:fillRect/>
          </a:stretch>
        </p:blipFill>
        <p:spPr>
          <a:xfrm>
            <a:off x="3572435" y="176609"/>
            <a:ext cx="7823668" cy="3250010"/>
          </a:xfrm>
          <a:prstGeom prst="rect">
            <a:avLst/>
          </a:prstGeom>
        </p:spPr>
      </p:pic>
      <p:pic>
        <p:nvPicPr>
          <p:cNvPr id="6" name="Picture 5">
            <a:extLst>
              <a:ext uri="{FF2B5EF4-FFF2-40B4-BE49-F238E27FC236}">
                <a16:creationId xmlns:a16="http://schemas.microsoft.com/office/drawing/2014/main" id="{FFC4754D-6159-795B-7501-CB470B9BD688}"/>
              </a:ext>
            </a:extLst>
          </p:cNvPr>
          <p:cNvPicPr>
            <a:picLocks noChangeAspect="1"/>
          </p:cNvPicPr>
          <p:nvPr/>
        </p:nvPicPr>
        <p:blipFill>
          <a:blip r:embed="rId3"/>
          <a:stretch>
            <a:fillRect/>
          </a:stretch>
        </p:blipFill>
        <p:spPr>
          <a:xfrm>
            <a:off x="3876676" y="3428451"/>
            <a:ext cx="7518796" cy="3120538"/>
          </a:xfrm>
          <a:prstGeom prst="rect">
            <a:avLst/>
          </a:prstGeom>
        </p:spPr>
      </p:pic>
      <p:sp>
        <p:nvSpPr>
          <p:cNvPr id="7" name="TextBox 6">
            <a:extLst>
              <a:ext uri="{FF2B5EF4-FFF2-40B4-BE49-F238E27FC236}">
                <a16:creationId xmlns:a16="http://schemas.microsoft.com/office/drawing/2014/main" id="{C97D434F-5F28-C902-57E1-7C1B35E41AF9}"/>
              </a:ext>
            </a:extLst>
          </p:cNvPr>
          <p:cNvSpPr txBox="1"/>
          <p:nvPr/>
        </p:nvSpPr>
        <p:spPr>
          <a:xfrm>
            <a:off x="273843" y="1994297"/>
            <a:ext cx="207168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Delta: Q2-Q3 </a:t>
            </a:r>
            <a:r>
              <a:rPr lang="en-US" err="1">
                <a:latin typeface="Times New Roman"/>
                <a:cs typeface="Times New Roman"/>
              </a:rPr>
              <a:t>freq</a:t>
            </a:r>
            <a:endParaRPr lang="en-US">
              <a:latin typeface="Times New Roman"/>
              <a:cs typeface="Times New Roman"/>
            </a:endParaRPr>
          </a:p>
          <a:p>
            <a:endParaRPr lang="en-US">
              <a:latin typeface="Times New Roman"/>
              <a:cs typeface="Times New Roman"/>
            </a:endParaRPr>
          </a:p>
          <a:p>
            <a:r>
              <a:rPr lang="en-US">
                <a:latin typeface="Times New Roman"/>
                <a:cs typeface="Times New Roman"/>
              </a:rPr>
              <a:t>Q2: Player Favored</a:t>
            </a:r>
          </a:p>
          <a:p>
            <a:r>
              <a:rPr lang="en-US">
                <a:latin typeface="Times New Roman"/>
                <a:cs typeface="Times New Roman"/>
              </a:rPr>
              <a:t>Q3: Critic Favored</a:t>
            </a:r>
          </a:p>
        </p:txBody>
      </p:sp>
    </p:spTree>
    <p:extLst>
      <p:ext uri="{BB962C8B-B14F-4D97-AF65-F5344CB8AC3E}">
        <p14:creationId xmlns:p14="http://schemas.microsoft.com/office/powerpoint/2010/main" val="1047529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DCD0E38-BBFA-BF2A-0352-0C245BB46FE5}"/>
              </a:ext>
            </a:extLst>
          </p:cNvPr>
          <p:cNvPicPr>
            <a:picLocks noGrp="1" noChangeAspect="1"/>
          </p:cNvPicPr>
          <p:nvPr>
            <p:ph idx="1"/>
          </p:nvPr>
        </p:nvPicPr>
        <p:blipFill>
          <a:blip r:embed="rId2"/>
          <a:stretch>
            <a:fillRect/>
          </a:stretch>
        </p:blipFill>
        <p:spPr>
          <a:xfrm>
            <a:off x="5043032" y="163422"/>
            <a:ext cx="5832590" cy="2533788"/>
          </a:xfrm>
          <a:prstGeom prst="rect">
            <a:avLst/>
          </a:prstGeom>
        </p:spPr>
      </p:pic>
      <p:pic>
        <p:nvPicPr>
          <p:cNvPr id="5" name="Picture 4">
            <a:extLst>
              <a:ext uri="{FF2B5EF4-FFF2-40B4-BE49-F238E27FC236}">
                <a16:creationId xmlns:a16="http://schemas.microsoft.com/office/drawing/2014/main" id="{63EF8659-D959-B105-1ACD-D9F989BE52C3}"/>
              </a:ext>
            </a:extLst>
          </p:cNvPr>
          <p:cNvPicPr>
            <a:picLocks noChangeAspect="1"/>
          </p:cNvPicPr>
          <p:nvPr/>
        </p:nvPicPr>
        <p:blipFill>
          <a:blip r:embed="rId3"/>
          <a:stretch>
            <a:fillRect/>
          </a:stretch>
        </p:blipFill>
        <p:spPr>
          <a:xfrm>
            <a:off x="2480182" y="2700155"/>
            <a:ext cx="8403929" cy="3543853"/>
          </a:xfrm>
          <a:prstGeom prst="rect">
            <a:avLst/>
          </a:prstGeom>
        </p:spPr>
      </p:pic>
      <p:sp>
        <p:nvSpPr>
          <p:cNvPr id="7" name="TextBox 6">
            <a:extLst>
              <a:ext uri="{FF2B5EF4-FFF2-40B4-BE49-F238E27FC236}">
                <a16:creationId xmlns:a16="http://schemas.microsoft.com/office/drawing/2014/main" id="{D269C83F-0ACB-89E7-055D-96A94F6CC3CD}"/>
              </a:ext>
            </a:extLst>
          </p:cNvPr>
          <p:cNvSpPr txBox="1"/>
          <p:nvPr/>
        </p:nvSpPr>
        <p:spPr>
          <a:xfrm>
            <a:off x="506016" y="922734"/>
            <a:ext cx="395287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highlight>
                  <a:srgbClr val="FFFFFF"/>
                </a:highlight>
                <a:latin typeface="Times New Roman"/>
                <a:cs typeface="Times New Roman"/>
              </a:rPr>
              <a:t>Slice by Genre</a:t>
            </a:r>
            <a:endParaRPr lang="en-US" sz="3600">
              <a:latin typeface="Times New Roman"/>
              <a:cs typeface="Times New Roman"/>
            </a:endParaRPr>
          </a:p>
          <a:p>
            <a:pPr algn="ctr"/>
            <a:endParaRPr lang="en-US" sz="2400">
              <a:highlight>
                <a:srgbClr val="FFFFFF"/>
              </a:highlight>
              <a:latin typeface="Times New Roman"/>
              <a:cs typeface="Times New Roman"/>
            </a:endParaRPr>
          </a:p>
        </p:txBody>
      </p:sp>
    </p:spTree>
    <p:extLst>
      <p:ext uri="{BB962C8B-B14F-4D97-AF65-F5344CB8AC3E}">
        <p14:creationId xmlns:p14="http://schemas.microsoft.com/office/powerpoint/2010/main" val="2003243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AC842-5DB6-43C2-4FA5-0DFFA4B20075}"/>
              </a:ext>
            </a:extLst>
          </p:cNvPr>
          <p:cNvSpPr>
            <a:spLocks noGrp="1"/>
          </p:cNvSpPr>
          <p:nvPr>
            <p:ph type="title"/>
          </p:nvPr>
        </p:nvSpPr>
        <p:spPr/>
        <p:txBody>
          <a:bodyPr/>
          <a:lstStyle/>
          <a:p>
            <a:r>
              <a:rPr lang="en-US" sz="4000">
                <a:latin typeface="Garamond"/>
                <a:cs typeface="Times New Roman"/>
              </a:rPr>
              <a:t>Divergence by Price, </a:t>
            </a:r>
            <a:r>
              <a:rPr lang="en-US" sz="4000" err="1">
                <a:latin typeface="Garamond"/>
                <a:cs typeface="Times New Roman"/>
              </a:rPr>
              <a:t>is_free</a:t>
            </a:r>
            <a:r>
              <a:rPr lang="en-US" sz="4000">
                <a:latin typeface="Garamond"/>
                <a:cs typeface="Times New Roman"/>
              </a:rPr>
              <a:t> and Owner Range</a:t>
            </a:r>
          </a:p>
        </p:txBody>
      </p:sp>
      <p:pic>
        <p:nvPicPr>
          <p:cNvPr id="4" name="Content Placeholder 3">
            <a:extLst>
              <a:ext uri="{FF2B5EF4-FFF2-40B4-BE49-F238E27FC236}">
                <a16:creationId xmlns:a16="http://schemas.microsoft.com/office/drawing/2014/main" id="{E213E043-5062-D6C2-8EF6-21D83C56845B}"/>
              </a:ext>
            </a:extLst>
          </p:cNvPr>
          <p:cNvPicPr>
            <a:picLocks noGrp="1" noChangeAspect="1"/>
          </p:cNvPicPr>
          <p:nvPr>
            <p:ph idx="1"/>
          </p:nvPr>
        </p:nvPicPr>
        <p:blipFill>
          <a:blip r:embed="rId2"/>
          <a:stretch>
            <a:fillRect/>
          </a:stretch>
        </p:blipFill>
        <p:spPr>
          <a:xfrm>
            <a:off x="716986" y="1716150"/>
            <a:ext cx="10752524" cy="2918520"/>
          </a:xfrm>
          <a:prstGeom prst="rect">
            <a:avLst/>
          </a:prstGeom>
        </p:spPr>
      </p:pic>
      <p:sp>
        <p:nvSpPr>
          <p:cNvPr id="5" name="TextBox 4">
            <a:extLst>
              <a:ext uri="{FF2B5EF4-FFF2-40B4-BE49-F238E27FC236}">
                <a16:creationId xmlns:a16="http://schemas.microsoft.com/office/drawing/2014/main" id="{5B4A1803-A627-4792-BFE9-3509F27583E4}"/>
              </a:ext>
            </a:extLst>
          </p:cNvPr>
          <p:cNvSpPr txBox="1"/>
          <p:nvPr/>
        </p:nvSpPr>
        <p:spPr>
          <a:xfrm>
            <a:off x="714375" y="4310062"/>
            <a:ext cx="1103113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atin typeface="Garamond"/>
              <a:ea typeface="+mn-lt"/>
              <a:cs typeface="+mn-lt"/>
            </a:endParaRPr>
          </a:p>
          <a:p>
            <a:pPr marL="285750" indent="-285750">
              <a:buFont typeface="Arial"/>
              <a:buChar char="•"/>
            </a:pPr>
            <a:r>
              <a:rPr lang="en-US">
                <a:latin typeface="Garamond"/>
                <a:ea typeface="+mn-lt"/>
                <a:cs typeface="+mn-lt"/>
              </a:rPr>
              <a:t>For cheaper games, players tend to be more forgiving.</a:t>
            </a:r>
            <a:endParaRPr lang="en-US">
              <a:latin typeface="Garamond"/>
            </a:endParaRPr>
          </a:p>
          <a:p>
            <a:pPr marL="285750" indent="-285750">
              <a:buFont typeface="Arial"/>
              <a:buChar char="•"/>
            </a:pPr>
            <a:r>
              <a:rPr lang="en-US">
                <a:latin typeface="Garamond"/>
                <a:ea typeface="+mn-lt"/>
                <a:cs typeface="+mn-lt"/>
              </a:rPr>
              <a:t>Paid games have a slightly higher median divergence than free games, but the difference is not very large.</a:t>
            </a:r>
            <a:endParaRPr lang="en-US">
              <a:latin typeface="Garamond"/>
            </a:endParaRPr>
          </a:p>
          <a:p>
            <a:pPr marL="285750" indent="-285750">
              <a:buFont typeface="Arial"/>
              <a:buChar char="•"/>
            </a:pPr>
            <a:r>
              <a:rPr lang="en-US">
                <a:latin typeface="Garamond"/>
                <a:ea typeface="+mn-lt"/>
                <a:cs typeface="+mn-lt"/>
              </a:rPr>
              <a:t>For owner ranges, mean divergence stays positive for most groups, indicating broad agreement with the earlier finding that players are more positive than critics. However, the largest owner range shows a sharp negative drop, likely because the sample size is very small, so this result should be interpreted carefully.</a:t>
            </a:r>
            <a:endParaRPr lang="en-US">
              <a:latin typeface="Garamond"/>
            </a:endParaRPr>
          </a:p>
          <a:p>
            <a:pPr algn="l"/>
            <a:endParaRPr lang="en-US"/>
          </a:p>
        </p:txBody>
      </p:sp>
    </p:spTree>
    <p:extLst>
      <p:ext uri="{BB962C8B-B14F-4D97-AF65-F5344CB8AC3E}">
        <p14:creationId xmlns:p14="http://schemas.microsoft.com/office/powerpoint/2010/main" val="2122084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EAF1E-B84C-CD94-5573-0EC4C0CBCB90}"/>
              </a:ext>
            </a:extLst>
          </p:cNvPr>
          <p:cNvSpPr>
            <a:spLocks noGrp="1"/>
          </p:cNvSpPr>
          <p:nvPr>
            <p:ph type="title"/>
          </p:nvPr>
        </p:nvSpPr>
        <p:spPr/>
        <p:txBody>
          <a:bodyPr/>
          <a:lstStyle/>
          <a:p>
            <a:r>
              <a:rPr lang="en-US" sz="4000">
                <a:highlight>
                  <a:srgbClr val="FFFFFF"/>
                </a:highlight>
                <a:latin typeface="Times New Roman"/>
                <a:cs typeface="Times New Roman"/>
              </a:rPr>
              <a:t>Trend by Release Year</a:t>
            </a:r>
            <a:endParaRPr lang="en-US" sz="4000">
              <a:latin typeface="Times New Roman"/>
              <a:cs typeface="Times New Roman"/>
            </a:endParaRPr>
          </a:p>
        </p:txBody>
      </p:sp>
      <p:pic>
        <p:nvPicPr>
          <p:cNvPr id="4" name="Content Placeholder 3">
            <a:extLst>
              <a:ext uri="{FF2B5EF4-FFF2-40B4-BE49-F238E27FC236}">
                <a16:creationId xmlns:a16="http://schemas.microsoft.com/office/drawing/2014/main" id="{5D504187-49CA-0F6A-A37A-C821C3D5BBE7}"/>
              </a:ext>
            </a:extLst>
          </p:cNvPr>
          <p:cNvPicPr>
            <a:picLocks noGrp="1" noChangeAspect="1"/>
          </p:cNvPicPr>
          <p:nvPr>
            <p:ph idx="1"/>
          </p:nvPr>
        </p:nvPicPr>
        <p:blipFill>
          <a:blip r:embed="rId2"/>
          <a:stretch>
            <a:fillRect/>
          </a:stretch>
        </p:blipFill>
        <p:spPr>
          <a:xfrm>
            <a:off x="1223220" y="1825625"/>
            <a:ext cx="9745559" cy="4351338"/>
          </a:xfrm>
          <a:prstGeom prst="rect">
            <a:avLst/>
          </a:prstGeom>
        </p:spPr>
      </p:pic>
    </p:spTree>
    <p:extLst>
      <p:ext uri="{BB962C8B-B14F-4D97-AF65-F5344CB8AC3E}">
        <p14:creationId xmlns:p14="http://schemas.microsoft.com/office/powerpoint/2010/main" val="3439348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0A665-13E7-01AB-B032-86BB37E20823}"/>
              </a:ext>
            </a:extLst>
          </p:cNvPr>
          <p:cNvSpPr>
            <a:spLocks noGrp="1"/>
          </p:cNvSpPr>
          <p:nvPr>
            <p:ph type="title"/>
          </p:nvPr>
        </p:nvSpPr>
        <p:spPr>
          <a:xfrm>
            <a:off x="429768" y="411480"/>
            <a:ext cx="11201400" cy="1106424"/>
          </a:xfrm>
        </p:spPr>
        <p:txBody>
          <a:bodyPr>
            <a:normAutofit/>
          </a:bodyPr>
          <a:lstStyle/>
          <a:p>
            <a:r>
              <a:rPr lang="en-US" sz="3600">
                <a:latin typeface="Garamond"/>
              </a:rPr>
              <a:t>Publisher</a:t>
            </a:r>
            <a:r>
              <a:rPr lang="en-US" sz="3600">
                <a:latin typeface="Garamond"/>
                <a:ea typeface="+mj-lt"/>
                <a:cs typeface="+mj-lt"/>
              </a:rPr>
              <a:t> Strategy: Diversification vs. Specialization</a:t>
            </a:r>
            <a:endParaRPr lang="en-US" sz="3600">
              <a:latin typeface="Garamond"/>
            </a:endParaRPr>
          </a:p>
        </p:txBody>
      </p:sp>
      <p:sp>
        <p:nvSpPr>
          <p:cNvPr id="13" name="Rectangle 12">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a:extLst>
              <a:ext uri="{FF2B5EF4-FFF2-40B4-BE49-F238E27FC236}">
                <a16:creationId xmlns:a16="http://schemas.microsoft.com/office/drawing/2014/main" id="{FFA63991-9C0F-D505-970A-B7D8099A6BD4}"/>
              </a:ext>
            </a:extLst>
          </p:cNvPr>
          <p:cNvPicPr>
            <a:picLocks noChangeAspect="1"/>
          </p:cNvPicPr>
          <p:nvPr/>
        </p:nvPicPr>
        <p:blipFill>
          <a:blip r:embed="rId2"/>
          <a:srcRect r="627" b="1"/>
          <a:stretch>
            <a:fillRect/>
          </a:stretch>
        </p:blipFill>
        <p:spPr>
          <a:xfrm>
            <a:off x="429768" y="1721922"/>
            <a:ext cx="6704891" cy="4520559"/>
          </a:xfrm>
          <a:prstGeom prst="rect">
            <a:avLst/>
          </a:prstGeom>
        </p:spPr>
      </p:pic>
      <p:sp useBgFill="1">
        <p:nvSpPr>
          <p:cNvPr id="15" name="Rectangle 14">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3EB701C6-71B2-1046-C598-EE902C1A0074}"/>
              </a:ext>
            </a:extLst>
          </p:cNvPr>
          <p:cNvSpPr>
            <a:spLocks noGrp="1"/>
          </p:cNvSpPr>
          <p:nvPr>
            <p:ph idx="1"/>
          </p:nvPr>
        </p:nvSpPr>
        <p:spPr>
          <a:xfrm>
            <a:off x="7927293" y="2404689"/>
            <a:ext cx="3455097" cy="3581216"/>
          </a:xfrm>
        </p:spPr>
        <p:txBody>
          <a:bodyPr anchor="ctr">
            <a:normAutofit/>
          </a:bodyPr>
          <a:lstStyle/>
          <a:p>
            <a:r>
              <a:rPr lang="en-US" sz="1800" b="1">
                <a:latin typeface="Garamond"/>
                <a:ea typeface="+mn-lt"/>
                <a:cs typeface="+mn-lt"/>
              </a:rPr>
              <a:t>Diversified Giants:</a:t>
            </a:r>
            <a:r>
              <a:rPr lang="en-US" sz="1800">
                <a:latin typeface="Garamond"/>
                <a:ea typeface="+mn-lt"/>
                <a:cs typeface="+mn-lt"/>
              </a:rPr>
              <a:t> Broad genre hedging (HHI ~1500) yields 110M+ total sales.</a:t>
            </a:r>
            <a:endParaRPr lang="en-US" sz="1800">
              <a:latin typeface="Garamond"/>
            </a:endParaRPr>
          </a:p>
          <a:p>
            <a:r>
              <a:rPr lang="en-US" sz="1800" b="1">
                <a:latin typeface="Garamond"/>
                <a:ea typeface="+mn-lt"/>
                <a:cs typeface="+mn-lt"/>
              </a:rPr>
              <a:t>Special Powerhouses: </a:t>
            </a:r>
            <a:r>
              <a:rPr lang="en-US" sz="1800">
                <a:latin typeface="Garamond"/>
                <a:ea typeface="+mn-lt"/>
                <a:cs typeface="+mn-lt"/>
              </a:rPr>
              <a:t>Extreme focus on Action/Shooter (HHI ~8300) drives 148M+ sales.</a:t>
            </a:r>
            <a:endParaRPr lang="en-US">
              <a:latin typeface="Garamond"/>
            </a:endParaRPr>
          </a:p>
          <a:p>
            <a:r>
              <a:rPr lang="en-US" sz="1800" b="1">
                <a:latin typeface="Garamond"/>
                <a:ea typeface="+mn-lt"/>
                <a:cs typeface="+mn-lt"/>
              </a:rPr>
              <a:t>Key Takeaway:</a:t>
            </a:r>
            <a:r>
              <a:rPr lang="en-US" sz="1800">
                <a:latin typeface="Garamond"/>
                <a:ea typeface="+mn-lt"/>
                <a:cs typeface="+mn-lt"/>
              </a:rPr>
              <a:t> Massive scale is achievable through focus and broad diversification.</a:t>
            </a:r>
            <a:endParaRPr lang="en-US">
              <a:latin typeface="Garamond"/>
            </a:endParaRPr>
          </a:p>
          <a:p>
            <a:endParaRPr lang="en-US" sz="1800"/>
          </a:p>
          <a:p>
            <a:endParaRPr lang="en-US" sz="1800"/>
          </a:p>
        </p:txBody>
      </p:sp>
    </p:spTree>
    <p:extLst>
      <p:ext uri="{BB962C8B-B14F-4D97-AF65-F5344CB8AC3E}">
        <p14:creationId xmlns:p14="http://schemas.microsoft.com/office/powerpoint/2010/main" val="140186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692334-D303-3679-CDF5-C8724BE6FA33}"/>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4189E79-27DD-3EE7-1F54-D29C44A75B4B}"/>
              </a:ext>
            </a:extLst>
          </p:cNvPr>
          <p:cNvSpPr>
            <a:spLocks noGrp="1"/>
          </p:cNvSpPr>
          <p:nvPr>
            <p:ph type="title"/>
          </p:nvPr>
        </p:nvSpPr>
        <p:spPr>
          <a:xfrm>
            <a:off x="1046746" y="586822"/>
            <a:ext cx="3560252" cy="1645920"/>
          </a:xfrm>
        </p:spPr>
        <p:txBody>
          <a:bodyPr>
            <a:normAutofit/>
          </a:bodyPr>
          <a:lstStyle/>
          <a:p>
            <a:r>
              <a:rPr lang="en-US" sz="3200">
                <a:ea typeface="+mj-lt"/>
                <a:cs typeface="+mj-lt"/>
              </a:rPr>
              <a:t> Free-to-Play and CS2 Dominance</a:t>
            </a:r>
            <a:endParaRPr lang="en-US" sz="3200"/>
          </a:p>
        </p:txBody>
      </p:sp>
      <p:sp>
        <p:nvSpPr>
          <p:cNvPr id="29" name="Rectangle 28">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B979E366-DD87-C6DF-065A-C476F48EB2DC}"/>
              </a:ext>
            </a:extLst>
          </p:cNvPr>
          <p:cNvSpPr>
            <a:spLocks noGrp="1"/>
          </p:cNvSpPr>
          <p:nvPr>
            <p:ph idx="1"/>
          </p:nvPr>
        </p:nvSpPr>
        <p:spPr>
          <a:xfrm>
            <a:off x="5305329" y="1085273"/>
            <a:ext cx="6002636" cy="1645920"/>
          </a:xfrm>
        </p:spPr>
        <p:txBody>
          <a:bodyPr anchor="ctr">
            <a:normAutofit/>
          </a:bodyPr>
          <a:lstStyle/>
          <a:p>
            <a:r>
              <a:rPr lang="en-US" sz="1500" b="1">
                <a:ea typeface="+mn-lt"/>
                <a:cs typeface="+mn-lt"/>
              </a:rPr>
              <a:t>F2P Success:</a:t>
            </a:r>
            <a:r>
              <a:rPr lang="en-US" sz="1500">
                <a:ea typeface="+mn-lt"/>
                <a:cs typeface="+mn-lt"/>
              </a:rPr>
              <a:t> F2P model drives </a:t>
            </a:r>
            <a:r>
              <a:rPr lang="en-US" sz="1500" b="1">
                <a:ea typeface="+mn-lt"/>
                <a:cs typeface="+mn-lt"/>
              </a:rPr>
              <a:t>1.67x</a:t>
            </a:r>
            <a:r>
              <a:rPr lang="en-US" sz="1500">
                <a:ea typeface="+mn-lt"/>
                <a:cs typeface="+mn-lt"/>
              </a:rPr>
              <a:t> more average players per game globally than paid titles.</a:t>
            </a:r>
          </a:p>
          <a:p>
            <a:r>
              <a:rPr lang="en-US" sz="1500" b="1">
                <a:ea typeface="+mn-lt"/>
                <a:cs typeface="+mn-lt"/>
              </a:rPr>
              <a:t>CS2 Dominance:</a:t>
            </a:r>
            <a:r>
              <a:rPr lang="en-US" sz="1500">
                <a:ea typeface="+mn-lt"/>
                <a:cs typeface="+mn-lt"/>
              </a:rPr>
              <a:t> Despite minimal buy-out sales, a single F2P title (</a:t>
            </a:r>
            <a:r>
              <a:rPr lang="en-US" sz="1500" i="1">
                <a:ea typeface="+mn-lt"/>
                <a:cs typeface="+mn-lt"/>
              </a:rPr>
              <a:t>CS2</a:t>
            </a:r>
            <a:r>
              <a:rPr lang="en-US" sz="1500">
                <a:ea typeface="+mn-lt"/>
                <a:cs typeface="+mn-lt"/>
              </a:rPr>
              <a:t>) captures </a:t>
            </a:r>
            <a:r>
              <a:rPr lang="en-US" sz="1500" b="1">
                <a:ea typeface="+mn-lt"/>
                <a:cs typeface="+mn-lt"/>
              </a:rPr>
              <a:t>100M+</a:t>
            </a:r>
            <a:r>
              <a:rPr lang="en-US" sz="1500">
                <a:ea typeface="+mn-lt"/>
                <a:cs typeface="+mn-lt"/>
              </a:rPr>
              <a:t> users.</a:t>
            </a:r>
          </a:p>
          <a:p>
            <a:r>
              <a:rPr lang="en-US" sz="1500" b="1">
                <a:ea typeface="+mn-lt"/>
                <a:cs typeface="+mn-lt"/>
              </a:rPr>
              <a:t>Key Takeaway:</a:t>
            </a:r>
            <a:r>
              <a:rPr lang="en-US" sz="1500">
                <a:ea typeface="+mn-lt"/>
                <a:cs typeface="+mn-lt"/>
              </a:rPr>
              <a:t> Zero-barrier entry acts as a traffic black hole, locking users into lucrative virtual economies.</a:t>
            </a:r>
            <a:endParaRPr lang="en-US" sz="1500"/>
          </a:p>
          <a:p>
            <a:endParaRPr lang="en-US" sz="1500"/>
          </a:p>
          <a:p>
            <a:endParaRPr lang="en-US" sz="1500"/>
          </a:p>
          <a:p>
            <a:endParaRPr lang="en-US" sz="1500"/>
          </a:p>
        </p:txBody>
      </p:sp>
      <p:pic>
        <p:nvPicPr>
          <p:cNvPr id="3" name="Picture 2">
            <a:extLst>
              <a:ext uri="{FF2B5EF4-FFF2-40B4-BE49-F238E27FC236}">
                <a16:creationId xmlns:a16="http://schemas.microsoft.com/office/drawing/2014/main" id="{CDAF58F9-64A5-4093-54C2-D318F4FC68C7}"/>
              </a:ext>
            </a:extLst>
          </p:cNvPr>
          <p:cNvPicPr>
            <a:picLocks noChangeAspect="1"/>
          </p:cNvPicPr>
          <p:nvPr/>
        </p:nvPicPr>
        <p:blipFill>
          <a:blip r:embed="rId2"/>
          <a:stretch>
            <a:fillRect/>
          </a:stretch>
        </p:blipFill>
        <p:spPr>
          <a:xfrm>
            <a:off x="1463868" y="2734056"/>
            <a:ext cx="9352655" cy="3483864"/>
          </a:xfrm>
          <a:prstGeom prst="rect">
            <a:avLst/>
          </a:prstGeom>
        </p:spPr>
      </p:pic>
    </p:spTree>
    <p:extLst>
      <p:ext uri="{BB962C8B-B14F-4D97-AF65-F5344CB8AC3E}">
        <p14:creationId xmlns:p14="http://schemas.microsoft.com/office/powerpoint/2010/main" val="19174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21</Slides>
  <Notes>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Video Games Analysis Centered Around Review Ratings, Genre Specification, and Monetization Models</vt:lpstr>
      <vt:lpstr>Project Background</vt:lpstr>
      <vt:lpstr>Dataset &amp; Data Cleaning</vt:lpstr>
      <vt:lpstr>Cleaning Strategy</vt:lpstr>
      <vt:lpstr>PowerPoint Presentation</vt:lpstr>
      <vt:lpstr>PowerPoint Presentation</vt:lpstr>
      <vt:lpstr>Loading the Data</vt:lpstr>
      <vt:lpstr>Output Explanation</vt:lpstr>
      <vt:lpstr>Descriptive Statistics</vt:lpstr>
      <vt:lpstr>Primary Hypothesis Test</vt:lpstr>
      <vt:lpstr>Genre Share Amongst Top Sellers (vgChartz)</vt:lpstr>
      <vt:lpstr>Critic vs Player</vt:lpstr>
      <vt:lpstr>Rating Distribution</vt:lpstr>
      <vt:lpstr>PowerPoint Presentation</vt:lpstr>
      <vt:lpstr>PowerPoint Presentation</vt:lpstr>
      <vt:lpstr>Slice by Category &amp; Tag </vt:lpstr>
      <vt:lpstr>PowerPoint Presentation</vt:lpstr>
      <vt:lpstr>Divergence by Price, is_free and Owner Range</vt:lpstr>
      <vt:lpstr>Trend by Release Year</vt:lpstr>
      <vt:lpstr>Publisher Strategy: Diversification vs. Specialization</vt:lpstr>
      <vt:lpstr> Free-to-Play and CS2 Dominance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2026-05-05T19:22:22Z</dcterms:created>
  <dcterms:modified xsi:type="dcterms:W3CDTF">2026-05-06T13:59:59Z</dcterms:modified>
</cp:coreProperties>
</file>